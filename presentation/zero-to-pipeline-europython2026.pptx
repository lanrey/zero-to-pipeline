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ME — show while audience settles (~60 seconds).</a:t>
            </a:r>
          </a:p>
          <a:p/>
          <a:p>
            <a:r>
              <a:t>'I'm Olusola, Engineering Lead at Retailloop. I build reliable data systems. This talk is about making that easier.'</a:t>
            </a:r>
          </a:p>
          <a:p/>
          <a:p>
            <a:r>
              <a:t>Point to screen: 'QR / olusola.xyz — scan now or at the end.' Keep it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~30 seconds.</a:t>
            </a:r>
          </a:p>
          <a:p/>
          <a:p>
            <a:r>
              <a:t>Open: 'Raise your hand if you've spent more than an hour debugging a data connector this year.' Let hands stay up. Look around. 'That's what this talk is about.'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~1:00. Bridge from title slide.</a:t>
            </a:r>
          </a:p>
          <a:p/>
          <a:p>
            <a:r>
              <a:t>'This is the ML project lifecycle — most of you know this from Andrew Ng.</a:t>
            </a:r>
          </a:p>
          <a:p/>
          <a:p>
            <a:r>
              <a:t>Look at where your data lives: it is in production systems.</a:t>
            </a:r>
          </a:p>
          <a:p>
            <a:r>
              <a:t>MLflow tracking your experiments. Prometheus watching your model serving.</a:t>
            </a:r>
          </a:p>
          <a:p>
            <a:r>
              <a:t>Airflow running your pipelines. Your own internal feature store.</a:t>
            </a:r>
          </a:p>
          <a:p>
            <a:r>
              <a:t>It is all already there — deployed, running, generating data.</a:t>
            </a:r>
          </a:p>
          <a:p/>
          <a:p>
            <a:r>
              <a:t>The loop between Deployment and Data is real. You need to pull that</a:t>
            </a:r>
          </a:p>
          <a:p>
            <a:r>
              <a:t>production data back to improve your models, monitor your pipelines,</a:t>
            </a:r>
          </a:p>
          <a:p>
            <a:r>
              <a:t>feed your retraining jobs.</a:t>
            </a:r>
          </a:p>
          <a:p/>
          <a:p>
            <a:r>
              <a:t>But to do that — you have to connect to all of it.</a:t>
            </a:r>
          </a:p>
          <a:p>
            <a:r>
              <a:t>And connecting to production infrastructure is where afternoons go to die.</a:t>
            </a:r>
          </a:p>
          <a:p/>
          <a:p>
            <a:r>
              <a:t>That is the problem this talk is about.'</a:t>
            </a:r>
          </a:p>
          <a:p/>
          <a:p>
            <a:r>
              <a:t>Pause. Then click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~1:30. Bridge: 'That feedback loop between Deployment and Data? This is what it looks like in practice.'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one entry at a time. Pause after each red line. Let the audience feel the familiar sting.</a:t>
            </a:r>
          </a:p>
          <a:p/>
          <a:p>
            <a:r>
              <a:t>Key message at the end: 'The pain is not in the ML. It's in the plumbing.'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~1:30. This is the emotional beat. Pause. Let it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~1:45. Read it slowly. Let it sit for 2 full seconds before clicking.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~1:55. Say it slowly. Emphasise 'zero config files'. Then: 'I know what you're thinking — that sounds too good to be true. That's exactly why I'm here.'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~2:00. Let the audience read it. 'The feature store that took all afternoon. Three commands. That's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2:00. 'Before I show you the code, let me be specific. If I just say it works, that's a red flag at a technical conference.'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2:30. Walk each bullet. Pause on 'idempotent re-runs'. Key line: 'We're removing toil, not engineering.'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4:00. 'You can always --base-url your way back to manual control. That's by design.'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6:15. Don't read — point to each layer as you name it. 45 seconds max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7:30. 'mlflow — known, preset+LLM.'</a:t>
            </a:r>
          </a:p>
          <a:p>
            <a:r>
              <a:t>'my-feature-store — never seen before. LLM discovers auth type, pagination style, endpoints. From the name and URL alone.'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9:00. Point at the callout box. 'One accidental git push. It happens weekly.'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9:30. 'Same security model as your password manager. Resolves the 14:45 pain — OAuth token stored once, never in .env.'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10:00. Call back to slide 4: '15:30 — token works in curl, SDK throws 403.'</a:t>
            </a:r>
          </a:p>
          <a:p>
            <a:r>
              <a:t>'Try 1: Bearer — 403. Try 2: no prefix — 200. Now it remembers. No config change needed.'</a:t>
            </a:r>
          </a:p>
          <a:p>
            <a:r>
              <a:t>'The healing_success log event is also a signal: if it fires on a stable pipeline, the upstream API changed its auth. That's worth an alert.'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11:00. 'The connector samples one response and detects which pattern is in use. You don't specify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11:30. 'Two extraction steps run in parallel. When both finish, the Linear step runs. No Temporal. No Celery. No infrastructure.</a:t>
            </a:r>
          </a:p>
          <a:p>
            <a:r>
              <a:t>This is the actual pipeline you will see me run in the demo.'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 SLIDE — only use if live demo fails.</a:t>
            </a:r>
          </a:p>
          <a:p/>
          <a:p>
            <a:r>
              <a:t>Say calmly: 'Let me show you a recording of exactly what this looks like.'</a:t>
            </a:r>
          </a:p>
          <a:p>
            <a:r>
              <a:t>Open Loom, play from the relevant timestamp.</a:t>
            </a:r>
          </a:p>
          <a:p/>
          <a:p>
            <a:r>
              <a:t>Timestamps:</a:t>
            </a:r>
          </a:p>
          <a:p>
            <a:r>
              <a:t>  0:00  Health check</a:t>
            </a:r>
          </a:p>
          <a:p>
            <a:r>
              <a:t>  0:20  Add feature store</a:t>
            </a:r>
          </a:p>
          <a:p>
            <a:r>
              <a:t>  1:10  Auth set with docs</a:t>
            </a:r>
          </a:p>
          <a:p>
            <a:r>
              <a:t>  1:50  First sync + self-healing</a:t>
            </a:r>
          </a:p>
          <a:p>
            <a:r>
              <a:t>  2:30  Incremental sync</a:t>
            </a:r>
          </a:p>
          <a:p>
            <a:r>
              <a:t>  2:50  Fraud detection pipeline</a:t>
            </a:r>
          </a:p>
          <a:p>
            <a:r>
              <a:t>  4:00  Chat assistant</a:t>
            </a:r>
          </a:p>
          <a:p/>
          <a:p>
            <a:r>
              <a:t>After video: 'The whole thing. In under 5 minutes. Let me show you why.'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12:00 — SWITCH TO TERMINAL.</a:t>
            </a:r>
          </a:p>
          <a:p/>
          <a:p>
            <a:r>
              <a:t>ACT 1 — Health check (20s)</a:t>
            </a:r>
          </a:p>
          <a:p>
            <a:r>
              <a:t>  pipeline doctor</a:t>
            </a:r>
          </a:p>
          <a:p/>
          <a:p>
            <a:r>
              <a:t>ACT 2 — Start all services (20s)</a:t>
            </a:r>
          </a:p>
          <a:p>
            <a:r>
              <a:t>  uv run python -m fraud_demo.setup</a:t>
            </a:r>
          </a:p>
          <a:p>
            <a:r>
              <a:t>  (Feast 6566, MLflow 5001, Prometheus 9090 — all confirmed up)</a:t>
            </a:r>
          </a:p>
          <a:p/>
          <a:p>
            <a:r>
              <a:t>ACT 3 — Add Feast (no auth, known preset) (30s)</a:t>
            </a:r>
          </a:p>
          <a:p>
            <a:r>
              <a:t>  pipeline source add feast --force</a:t>
            </a:r>
          </a:p>
          <a:p>
            <a:r>
              <a:t>  pipeline source test feast</a:t>
            </a:r>
          </a:p>
          <a:p/>
          <a:p>
            <a:r>
              <a:t>ACT 4 — Add MLflow (no auth, port 5001) (30s)</a:t>
            </a:r>
          </a:p>
          <a:p>
            <a:r>
              <a:t>  pipeline source add mlflow --base-url http://127.0.0.1:5001 --auth-type none --force</a:t>
            </a:r>
          </a:p>
          <a:p>
            <a:r>
              <a:t>  pipeline source test mlflow</a:t>
            </a:r>
          </a:p>
          <a:p/>
          <a:p>
            <a:r>
              <a:t>ACT 5 — First sync: 13 runs, 5 per page, cursor saved (45s)</a:t>
            </a:r>
          </a:p>
          <a:p>
            <a:r>
              <a:t>  pipeline sync run mlflow</a:t>
            </a:r>
          </a:p>
          <a:p>
            <a:r>
              <a:t>  (Done: 13 records — 3 pages of 5)</a:t>
            </a:r>
          </a:p>
          <a:p/>
          <a:p>
            <a:r>
              <a:t>ACT 6 — Incremental sync: cursor resumes (20s)</a:t>
            </a:r>
          </a:p>
          <a:p>
            <a:r>
              <a:t>  pipeline sync run mlflow</a:t>
            </a:r>
          </a:p>
          <a:p>
            <a:r>
              <a:t>  (Resuming from cursor. Done: 3 records — only new)</a:t>
            </a:r>
          </a:p>
          <a:p>
            <a:r>
              <a:t>  pipeline sync status</a:t>
            </a:r>
          </a:p>
          <a:p/>
          <a:p>
            <a:r>
              <a:t>ACT 7 — Full fraud detection pipeline (90s)</a:t>
            </a:r>
          </a:p>
          <a:p>
            <a:r>
              <a:t>  uv run python -m fraud_demo.run_pipeline</a:t>
            </a:r>
          </a:p>
          <a:p>
            <a:r>
              <a:t>  (Feast + 15k transactions → model → MLflow → Prometheus → Linear)</a:t>
            </a:r>
          </a:p>
          <a:p/>
          <a:p>
            <a:r>
              <a:t>FALLBACK: hover bottom-right on this slide → click 📹 backup → Loom 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12:20. All green. 'Four checks. We're ready.'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13:00 — first 'wow'. 'Feast is the feature store from slide 4.</a:t>
            </a:r>
          </a:p>
          <a:p>
            <a:r>
              <a:t>It's now a known provider. Auth: none — local server needs no token.</a:t>
            </a:r>
          </a:p>
          <a:p>
            <a:r>
              <a:t>One command. Connected.'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13:45. 'MLflow on port 5001 — our local demo server, no auth.</a:t>
            </a:r>
          </a:p>
          <a:p>
            <a:r>
              <a:t>Same command as any other source. Connected.'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14:10. 'Three local services — zero tokens.</a:t>
            </a:r>
          </a:p>
          <a:p>
            <a:r>
              <a:t>Linear is the only one that needs a token, and it's already in the keychain.'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15:00. 'Cursor pagination. MLflow returns a page_token.</a:t>
            </a:r>
          </a:p>
          <a:p>
            <a:r>
              <a:t>The connector follows it page by page — 5 per page, 3 pages, 13 runs.</a:t>
            </a:r>
          </a:p>
          <a:p>
            <a:r>
              <a:t>Cursor saved. Watch what happens when I run it again...'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15:45. 'Cursor picked up exactly where it left off.</a:t>
            </a:r>
          </a:p>
          <a:p>
            <a:r>
              <a:t>3 records, not 13. Your nightly retraining job fetches only what changed.'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16:15. 'Full conversational REPL — like Claude or ChatGPT.'</a:t>
            </a:r>
          </a:p>
          <a:p>
            <a:r>
              <a:t>'It knows your pipeline state. It can add sources, start containers, sync.'</a:t>
            </a:r>
          </a:p>
          <a:p>
            <a:r>
              <a:t>'For team members who don't live in the terminal.'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16:45. Run: uv run python -m fraud_demo.run_pipeline</a:t>
            </a:r>
          </a:p>
          <a:p/>
          <a:p>
            <a:r>
              <a:t>As steps complete, narrate:</a:t>
            </a:r>
          </a:p>
          <a:p>
            <a:r>
              <a:t>  'Feast features and transactions — parallel.'</a:t>
            </a:r>
          </a:p>
          <a:p>
            <a:r>
              <a:t>  'Model trained. 64.7% accuracy. 43.6% recall.'</a:t>
            </a:r>
          </a:p>
          <a:p>
            <a:r>
              <a:t>  'MLflow run logged — here is the URL.'</a:t>
            </a:r>
          </a:p>
          <a:p>
            <a:r>
              <a:t>  'Prometheus metrics pushed.'</a:t>
            </a:r>
          </a:p>
          <a:p>
            <a:r>
              <a:t>  'Linear issue created. Sprint unblocked.'</a:t>
            </a:r>
          </a:p>
          <a:p/>
          <a:p>
            <a:r>
              <a:t>Point at the bottom line:</a:t>
            </a:r>
          </a:p>
          <a:p>
            <a:r>
              <a:t>  '4.4 seconds. No connector classes. No YAML. No SDK imports.'</a:t>
            </a:r>
          </a:p>
          <a:p/>
          <a:p>
            <a:r>
              <a:t>Transition: 'Now let me show you why you can trust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17:00. 'The demo looked easy. That was intentional.' Pause. 'Easy to use doesn't mean simple inside.'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17:30. Point to decorator: 'Three lines.' Point at 429: 'Rate limited? We sleep the exact Retry-After duration.'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18:30. Call back to slide 4: '17:00 — cursor state lost. Full re-fetch.'</a:t>
            </a:r>
          </a:p>
          <a:p>
            <a:r>
              <a:t>'That is what happens with no checkpoint. This is what happens with one.'</a:t>
            </a:r>
          </a:p>
          <a:p>
            <a:r>
              <a:t>'The checkpoint files are plain JSON. Open, edit, delete. Zero magic.'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19:30. 'If Bearer fails, try raw. Stop as soon as one works.'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20:30. Read each line.</a:t>
            </a:r>
          </a:p>
          <a:p>
            <a:r>
              <a:t>'Pipeline started. Feature store step started.</a:t>
            </a:r>
          </a:p>
          <a:p>
            <a:r>
              <a:t>healing_success — that is the 403 from slide 4, fixed automatically.</a:t>
            </a:r>
          </a:p>
          <a:p>
            <a:r>
              <a:t>Feature store: 50k prediction records. MLflow: 8k runs. Pipeline done.'</a:t>
            </a:r>
          </a:p>
          <a:p/>
          <a:p>
            <a:r>
              <a:t>'The healing_success line: an API threw a 403 and the system fixed itself without waking anyone up.'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21:30. 'None of this is magic. Seven well-understood patterns applied consistently. You can implement every single one independently.'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23:00.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23:00. 'You can implement these eight patterns in your own Python connectors starting this week. You don't need this framework to use these ideas.'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24:00. Point first to my-feature-store — 'The one from this afternoon.'</a:t>
            </a:r>
          </a:p>
          <a:p>
            <a:r>
              <a:t>Then: 'MLflow. W&amp;B. Anything with an HTTP endpoint.'</a:t>
            </a:r>
          </a:p>
          <a:p>
            <a:r>
              <a:t>Closing: 'Three commands. Any API. Zero config files.'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24:30. 'Start here. Graduate when the problem grows past it. Don't use a cargo ship to cross a stream.'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25:00 — Q&amp;A starts.</a:t>
            </a:r>
          </a:p>
          <a:p/>
          <a:p>
            <a:r>
              <a:t>Prepared answers:</a:t>
            </a:r>
          </a:p>
          <a:p>
            <a:r>
              <a:t>Q: 'DLT / Airbyte?' → Lighter, more Python-native. Use DLT for 300+ connectors.</a:t>
            </a:r>
          </a:p>
          <a:p>
            <a:r>
              <a:t>Q: 'Production?' → Yes, single-machine, &lt;1M records.</a:t>
            </a:r>
          </a:p>
          <a:p>
            <a:r>
              <a:t>Q: 'Which LLM?' → Pre-configured for this demo. Any reasoning model works.</a:t>
            </a:r>
          </a:p>
          <a:p/>
          <a:p>
            <a:r>
              <a:t>Close: 'I'm around for the rest of the conference. Thank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quote sit.</a:t>
            </a:r>
          </a:p>
          <a:p>
            <a:r>
              <a:t>'Repo is in the talk description. I'm around for the rest of the conference.'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peaker name: Olusola Akinsulere"/>
          <p:cNvSpPr txBox="1"/>
          <p:nvPr/>
        </p:nvSpPr>
        <p:spPr>
          <a:xfrm>
            <a:off x="493776" y="5486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Open Sans"/>
              </a:rPr>
              <a:t>Olusola Akinsulere</a:t>
            </a:r>
          </a:p>
        </p:txBody>
      </p:sp>
      <p:sp>
        <p:nvSpPr>
          <p:cNvPr id="3" name="role" title="Engineering Lead · Retailloop"/>
          <p:cNvSpPr txBox="1"/>
          <p:nvPr/>
        </p:nvSpPr>
        <p:spPr>
          <a:xfrm>
            <a:off x="493776" y="14630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AE5FA"/>
                </a:solidFill>
                <a:latin typeface="Open Sans"/>
              </a:rPr>
              <a:t>Engineering Lead · Retailloop</a:t>
            </a:r>
          </a:p>
        </p:txBody>
      </p:sp>
      <p:sp>
        <p:nvSpPr>
          <p:cNvPr id="4" name="bio" title="Distributed systems · Payments · Data platforms&#10;Python · Backend · Practical ML"/>
          <p:cNvSpPr txBox="1"/>
          <p:nvPr/>
        </p:nvSpPr>
        <p:spPr>
          <a:xfrm>
            <a:off x="493776" y="2103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DAFF"/>
                </a:solidFill>
                <a:latin typeface="Open Sans"/>
              </a:rPr>
              <a:t>Distributed systems · Payments · Data platforms
Python · Backend · Practical ML</a:t>
            </a:r>
          </a:p>
        </p:txBody>
      </p:sp>
      <p:sp>
        <p:nvSpPr>
          <p:cNvPr id="5" name="website" title="Website: olusola.xyz"/>
          <p:cNvSpPr txBox="1"/>
          <p:nvPr/>
        </p:nvSpPr>
        <p:spPr>
          <a:xfrm>
            <a:off x="493776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6A5FF"/>
                </a:solidFill>
                <a:latin typeface="Open Sans"/>
              </a:rPr>
              <a:t>olusola.xyz</a:t>
            </a:r>
          </a:p>
        </p:txBody>
      </p:sp>
      <p:sp>
        <p:nvSpPr>
          <p:cNvPr id="6" name="slide-num-1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ference-label" title="EuroPython 2026 · Data Engineering &amp; MLOps"/>
          <p:cNvSpPr txBox="1"/>
          <p:nvPr/>
        </p:nvSpPr>
        <p:spPr>
          <a:xfrm>
            <a:off x="493776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99"/>
                </a:solidFill>
                <a:latin typeface="Open Sans"/>
              </a:rPr>
              <a:t>EuroPython 2026 · Data Engineering &amp; MLOps</a:t>
            </a:r>
          </a:p>
        </p:txBody>
      </p:sp>
      <p:sp>
        <p:nvSpPr>
          <p:cNvPr id="3" name="slide-title" title="Talk title: Zero to Pipeline"/>
          <p:cNvSpPr txBox="1"/>
          <p:nvPr/>
        </p:nvSpPr>
        <p:spPr>
          <a:xfrm>
            <a:off x="493776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AAE5FA"/>
                </a:solidFill>
                <a:latin typeface="Open Sans"/>
              </a:rPr>
              <a:t>Zero to Pipeline</a:t>
            </a:r>
          </a:p>
        </p:txBody>
      </p:sp>
      <p:sp>
        <p:nvSpPr>
          <p:cNvPr id="4" name="subtitle" title="When Data Connectors Just Work"/>
          <p:cNvSpPr txBox="1"/>
          <p:nvPr/>
        </p:nvSpPr>
        <p:spPr>
          <a:xfrm>
            <a:off x="493776" y="23774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BDAFF"/>
                </a:solidFill>
                <a:latin typeface="Open Sans"/>
              </a:rPr>
              <a:t>When Data Connectors Just Work</a:t>
            </a:r>
          </a:p>
        </p:txBody>
      </p:sp>
      <p:sp>
        <p:nvSpPr>
          <p:cNvPr id="5" name="byline" title="Olusola Akinsulere"/>
          <p:cNvSpPr txBox="1"/>
          <p:nvPr/>
        </p:nvSpPr>
        <p:spPr>
          <a:xfrm>
            <a:off x="493776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6A5FF"/>
                </a:solidFill>
                <a:latin typeface="Open Sans"/>
              </a:rPr>
              <a:t>Olusola Akinsulere</a:t>
            </a:r>
          </a:p>
        </p:txBody>
      </p:sp>
      <p:sp>
        <p:nvSpPr>
          <p:cNvPr id="6" name="slide-num-2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Your data is already in production."/>
          <p:cNvSpPr txBox="1"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12123"/>
                </a:solidFill>
                <a:latin typeface="Open Sans"/>
              </a:rPr>
              <a:t>Your data is already in production.</a:t>
            </a:r>
          </a:p>
        </p:txBody>
      </p:sp>
      <p:pic>
        <p:nvPicPr>
          <p:cNvPr id="3" name="Picture 2" descr="ml_lifecycle_andrew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8412480" cy="3886200"/>
          </a:xfrm>
          <a:prstGeom prst="rect">
            <a:avLst/>
          </a:prstGeom>
        </p:spPr>
      </p:pic>
      <p:sp>
        <p:nvSpPr>
          <p:cNvPr id="4" name="attribution" title="Source: Andrew Ng / DeepLearning.AI — MLOps Specialization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Source: Andrew Ng / DeepLearning.AI — MLOps Specialization</a:t>
            </a:r>
          </a:p>
        </p:txBody>
      </p:sp>
      <p:sp>
        <p:nvSpPr>
          <p:cNvPr id="5" name="slide-num-3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lide heading: It was supposed to be quick."/>
          <p:cNvSpPr txBox="1"/>
          <p:nvPr/>
        </p:nvSpPr>
        <p:spPr>
          <a:xfrm>
            <a:off x="493776" y="448056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BDAFF"/>
                </a:solidFill>
                <a:latin typeface="Open Sans"/>
              </a:rPr>
              <a:t>It was supposed to be quick.</a:t>
            </a:r>
          </a:p>
        </p:txBody>
      </p:sp>
      <p:sp>
        <p:nvSpPr>
          <p:cNvPr id="3" name="slide-num-4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A familiar afternoon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E5FA"/>
                </a:solidFill>
                <a:latin typeface="Open Sans"/>
              </a:rPr>
              <a:t>A familiar afternoon</a:t>
            </a:r>
          </a:p>
        </p:txBody>
      </p:sp>
      <p:sp>
        <p:nvSpPr>
          <p:cNvPr id="3" name="time-1" title="Timeline 14:00"/>
          <p:cNvSpPr txBox="1"/>
          <p:nvPr/>
        </p:nvSpPr>
        <p:spPr>
          <a:xfrm>
            <a:off x="365760" y="822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BDAFF"/>
                </a:solidFill>
                <a:latin typeface="Consolas"/>
              </a:rPr>
              <a:t>14:00</a:t>
            </a:r>
          </a:p>
        </p:txBody>
      </p:sp>
      <p:sp>
        <p:nvSpPr>
          <p:cNvPr id="4" name="event-1" title="&quot;Should be quick.&quot;"/>
          <p:cNvSpPr txBox="1"/>
          <p:nvPr/>
        </p:nvSpPr>
        <p:spPr>
          <a:xfrm>
            <a:off x="1737360" y="8229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DAFF"/>
                </a:solidFill>
                <a:latin typeface="Open Sans"/>
              </a:rPr>
              <a:t>"Should be quick."</a:t>
            </a:r>
          </a:p>
        </p:txBody>
      </p:sp>
      <p:sp>
        <p:nvSpPr>
          <p:cNvPr id="5" name="time-2" title="Timeline 14:45"/>
          <p:cNvSpPr txBox="1"/>
          <p:nvPr/>
        </p:nvSpPr>
        <p:spPr>
          <a:xfrm>
            <a:off x="365760" y="157276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6666"/>
                </a:solidFill>
                <a:latin typeface="Consolas"/>
              </a:rPr>
              <a:t>14:45</a:t>
            </a:r>
          </a:p>
        </p:txBody>
      </p:sp>
      <p:sp>
        <p:nvSpPr>
          <p:cNvPr id="6" name="event-2" title="OAuth. Reading docs. Again."/>
          <p:cNvSpPr txBox="1"/>
          <p:nvPr/>
        </p:nvSpPr>
        <p:spPr>
          <a:xfrm>
            <a:off x="1737360" y="15727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DAFF"/>
                </a:solidFill>
                <a:latin typeface="Open Sans"/>
              </a:rPr>
              <a:t>OAuth. Reading docs. Again.</a:t>
            </a:r>
          </a:p>
        </p:txBody>
      </p:sp>
      <p:sp>
        <p:nvSpPr>
          <p:cNvPr id="7" name="time-3" title="Timeline 15:30"/>
          <p:cNvSpPr txBox="1"/>
          <p:nvPr/>
        </p:nvSpPr>
        <p:spPr>
          <a:xfrm>
            <a:off x="365760" y="232257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6666"/>
                </a:solidFill>
                <a:latin typeface="Consolas"/>
              </a:rPr>
              <a:t>15:30</a:t>
            </a:r>
          </a:p>
        </p:txBody>
      </p:sp>
      <p:sp>
        <p:nvSpPr>
          <p:cNvPr id="8" name="event-3" title="SDK throws 403. curl works."/>
          <p:cNvSpPr txBox="1"/>
          <p:nvPr/>
        </p:nvSpPr>
        <p:spPr>
          <a:xfrm>
            <a:off x="1737360" y="2322576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DAFF"/>
                </a:solidFill>
                <a:latin typeface="Open Sans"/>
              </a:rPr>
              <a:t>SDK throws 403. curl works.</a:t>
            </a:r>
          </a:p>
        </p:txBody>
      </p:sp>
      <p:sp>
        <p:nvSpPr>
          <p:cNvPr id="9" name="time-4" title="Timeline 16:15"/>
          <p:cNvSpPr txBox="1"/>
          <p:nvPr/>
        </p:nvSpPr>
        <p:spPr>
          <a:xfrm>
            <a:off x="365760" y="3072384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6666"/>
                </a:solidFill>
                <a:latin typeface="Consolas"/>
              </a:rPr>
              <a:t>16:15</a:t>
            </a:r>
          </a:p>
        </p:txBody>
      </p:sp>
      <p:sp>
        <p:nvSpPr>
          <p:cNvPr id="10" name="event-4" title="Writing a paginator. Again."/>
          <p:cNvSpPr txBox="1"/>
          <p:nvPr/>
        </p:nvSpPr>
        <p:spPr>
          <a:xfrm>
            <a:off x="1737360" y="307238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DAFF"/>
                </a:solidFill>
                <a:latin typeface="Open Sans"/>
              </a:rPr>
              <a:t>Writing a paginator. Again.</a:t>
            </a:r>
          </a:p>
        </p:txBody>
      </p:sp>
      <p:sp>
        <p:nvSpPr>
          <p:cNvPr id="11" name="time-5" title="Timeline 17:00"/>
          <p:cNvSpPr txBox="1"/>
          <p:nvPr/>
        </p:nvSpPr>
        <p:spPr>
          <a:xfrm>
            <a:off x="365760" y="382219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0000"/>
                </a:solidFill>
                <a:latin typeface="Consolas"/>
              </a:rPr>
              <a:t>17:00</a:t>
            </a:r>
          </a:p>
        </p:txBody>
      </p:sp>
      <p:sp>
        <p:nvSpPr>
          <p:cNvPr id="12" name="event-5" title="Crash. Full re-fetch. Delayed."/>
          <p:cNvSpPr txBox="1"/>
          <p:nvPr/>
        </p:nvSpPr>
        <p:spPr>
          <a:xfrm>
            <a:off x="1737360" y="382219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BDAFF"/>
                </a:solidFill>
                <a:latin typeface="Open Sans"/>
              </a:rPr>
              <a:t>Crash. Full re-fetch. Delayed.</a:t>
            </a:r>
          </a:p>
        </p:txBody>
      </p:sp>
      <p:sp>
        <p:nvSpPr>
          <p:cNvPr id="13" name="slide-num-5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lide heading: The model waited.&#10;The sprint slipped."/>
          <p:cNvSpPr txBox="1"/>
          <p:nvPr/>
        </p:nvSpPr>
        <p:spPr>
          <a:xfrm>
            <a:off x="493776" y="448056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06666"/>
                </a:solidFill>
                <a:latin typeface="Open Sans"/>
              </a:rPr>
              <a:t>The model waited.
The sprint slipped.</a:t>
            </a:r>
          </a:p>
        </p:txBody>
      </p:sp>
      <p:sp>
        <p:nvSpPr>
          <p:cNvPr id="3" name="slide-num-6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-bar"/>
          <p:cNvSpPr txBox="1"/>
          <p:nvPr/>
        </p:nvSpPr>
        <p:spPr>
          <a:xfrm>
            <a:off x="365760" y="731520"/>
            <a:ext cx="73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BDAFF"/>
                </a:solidFill>
                <a:latin typeface="Open Sans"/>
              </a:rPr>
              <a:t/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365760" y="731520"/>
            <a:ext cx="73152" cy="3200400"/>
          </a:xfrm>
          <a:prstGeom prst="rect">
            <a:avLst/>
          </a:prstGeom>
          <a:solidFill>
            <a:srgbClr val="AA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uote" title="Quote: We don't have a shortage of data. We have a shortage of time to connect it."/>
          <p:cNvSpPr txBox="1"/>
          <p:nvPr/>
        </p:nvSpPr>
        <p:spPr>
          <a:xfrm>
            <a:off x="640080" y="8229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BDAFF"/>
                </a:solidFill>
                <a:latin typeface="Open Sans"/>
              </a:rPr>
              <a:t>“We don’t have a shortage of data.
We have a shortage of time to connect it.”</a:t>
            </a:r>
          </a:p>
        </p:txBody>
      </p:sp>
      <p:sp>
        <p:nvSpPr>
          <p:cNvPr id="5" name="quote-attr" title="— Every ML platform team, every sprint"/>
          <p:cNvSpPr txBox="1"/>
          <p:nvPr/>
        </p:nvSpPr>
        <p:spPr>
          <a:xfrm>
            <a:off x="64008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99999"/>
                </a:solidFill>
                <a:latin typeface="Open Sans"/>
              </a:rPr>
              <a:t>— Every ML platform team, every sprint</a:t>
            </a:r>
          </a:p>
        </p:txBody>
      </p:sp>
      <p:sp>
        <p:nvSpPr>
          <p:cNvPr id="6" name="slide-num-7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lide heading: Three commands.&#10;Any API.&#10;Zero config files."/>
          <p:cNvSpPr txBox="1"/>
          <p:nvPr/>
        </p:nvSpPr>
        <p:spPr>
          <a:xfrm>
            <a:off x="493776" y="448056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AE5FA"/>
                </a:solidFill>
                <a:latin typeface="Open Sans"/>
              </a:rPr>
              <a:t>Three commands.
Any API.
Zero config files.</a:t>
            </a:r>
          </a:p>
        </p:txBody>
      </p:sp>
      <p:sp>
        <p:nvSpPr>
          <p:cNvPr id="3" name="slide-num-8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The promise in code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The promise in code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The promise in code" descr="Code block — # That feature store from this afternoon: pipeline source add my-feature-store \     --base-url https://features.internal.mycompany.com pipeline auth set my-feature-store pipeline sync run my-feature-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# That feature store from this afternoon: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pipeline source add my-feature-store \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  --base-url https://features.internal.mycompany.com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pipeline auth set my-feature-store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FFFFFF"/>
                </a:solidFill>
                <a:latin typeface="Consolas"/>
              </a:rPr>
              <a:t>pipeline sync run my-feature-store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# Done: 50,284 prediction records. Cursor saved.</a:t>
            </a:r>
          </a:p>
        </p:txBody>
      </p:sp>
      <p:sp>
        <p:nvSpPr>
          <p:cNvPr id="5" name="slide-num-9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ection: What does 'Just Work' actually mean?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AE5FA"/>
                </a:solidFill>
                <a:latin typeface="Open Sans"/>
              </a:rPr>
              <a:t>What does 'Just Work' actually mean?</a:t>
            </a:r>
          </a:p>
        </p:txBody>
      </p:sp>
      <p:sp>
        <p:nvSpPr>
          <p:cNvPr id="3" name="slide-subtitle" title="Defining success criteria honestly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99999"/>
                </a:solidFill>
                <a:latin typeface="Open Sans"/>
              </a:rPr>
              <a:t>Defining success criteria honestly</a:t>
            </a:r>
          </a:p>
        </p:txBody>
      </p:sp>
      <p:sp>
        <p:nvSpPr>
          <p:cNvPr id="4" name="slide-num-10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The success criteria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E5FA"/>
                </a:solidFill>
                <a:latin typeface="Open Sans"/>
              </a:rPr>
              <a:t>The success criteria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4480560" y="731520"/>
            <a:ext cx="27432" cy="42062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ft-heading" title="Left column: It means ✓"/>
          <p:cNvSpPr txBox="1"/>
          <p:nvPr/>
        </p:nvSpPr>
        <p:spPr>
          <a:xfrm>
            <a:off x="365760" y="777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E5FA"/>
                </a:solidFill>
                <a:latin typeface="Open Sans"/>
              </a:rPr>
              <a:t>It means ✓</a:t>
            </a:r>
          </a:p>
        </p:txBody>
      </p:sp>
      <p:sp>
        <p:nvSpPr>
          <p:cNvPr id="5" name="left-1" title="• First sync in under 5 minutes"/>
          <p:cNvSpPr txBox="1"/>
          <p:nvPr/>
        </p:nvSpPr>
        <p:spPr>
          <a:xfrm>
            <a:off x="365760" y="1371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First sync in under 5 minutes</a:t>
            </a:r>
          </a:p>
        </p:txBody>
      </p:sp>
      <p:sp>
        <p:nvSpPr>
          <p:cNvPr id="6" name="left-2" title="• Sane defaults for 90% of APIs"/>
          <p:cNvSpPr txBox="1"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Sane defaults for 90% of APIs</a:t>
            </a:r>
          </a:p>
        </p:txBody>
      </p:sp>
      <p:sp>
        <p:nvSpPr>
          <p:cNvPr id="7" name="left-3" title="• Name + credential = running"/>
          <p:cNvSpPr txBox="1"/>
          <p:nvPr/>
        </p:nvSpPr>
        <p:spPr>
          <a:xfrm>
            <a:off x="365760" y="2560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Name + credential = running</a:t>
            </a:r>
          </a:p>
        </p:txBody>
      </p:sp>
      <p:sp>
        <p:nvSpPr>
          <p:cNvPr id="8" name="left-4" title="• Transparent permission model"/>
          <p:cNvSpPr txBox="1"/>
          <p:nvPr/>
        </p:nvSpPr>
        <p:spPr>
          <a:xfrm>
            <a:off x="365760" y="3154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Transparent permission model</a:t>
            </a:r>
          </a:p>
        </p:txBody>
      </p:sp>
      <p:sp>
        <p:nvSpPr>
          <p:cNvPr id="9" name="left-5" title="• Idempotent re-runs"/>
          <p:cNvSpPr txBox="1"/>
          <p:nvPr/>
        </p:nvSpPr>
        <p:spPr>
          <a:xfrm>
            <a:off x="365760" y="3749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Idempotent re-runs</a:t>
            </a:r>
          </a:p>
        </p:txBody>
      </p:sp>
      <p:sp>
        <p:nvSpPr>
          <p:cNvPr id="10" name="left-6" title="• Self-heals on common failures"/>
          <p:cNvSpPr txBox="1"/>
          <p:nvPr/>
        </p:nvSpPr>
        <p:spPr>
          <a:xfrm>
            <a:off x="365760" y="43434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Self-heals on common failures</a:t>
            </a:r>
          </a:p>
        </p:txBody>
      </p:sp>
      <p:sp>
        <p:nvSpPr>
          <p:cNvPr id="11" name="right-heading" title="Right column: It does NOT mean ✗"/>
          <p:cNvSpPr txBox="1"/>
          <p:nvPr/>
        </p:nvSpPr>
        <p:spPr>
          <a:xfrm>
            <a:off x="4663440" y="777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6666"/>
                </a:solidFill>
                <a:latin typeface="Open Sans"/>
              </a:rPr>
              <a:t>It does NOT mean ✗</a:t>
            </a:r>
          </a:p>
        </p:txBody>
      </p:sp>
      <p:sp>
        <p:nvSpPr>
          <p:cNvPr id="12" name="right-1" title="• No debugging ever needed"/>
          <p:cNvSpPr txBox="1"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No debugging ever needed</a:t>
            </a:r>
          </a:p>
        </p:txBody>
      </p:sp>
      <p:sp>
        <p:nvSpPr>
          <p:cNvPr id="13" name="right-2" title="• Skip security review"/>
          <p:cNvSpPr txBox="1"/>
          <p:nvPr/>
        </p:nvSpPr>
        <p:spPr>
          <a:xfrm>
            <a:off x="466344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Skip security review</a:t>
            </a:r>
          </a:p>
        </p:txBody>
      </p:sp>
      <p:sp>
        <p:nvSpPr>
          <p:cNvPr id="14" name="right-3" title="• Works for every edge case"/>
          <p:cNvSpPr txBox="1"/>
          <p:nvPr/>
        </p:nvSpPr>
        <p:spPr>
          <a:xfrm>
            <a:off x="4663440" y="2560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Works for every edge case</a:t>
            </a:r>
          </a:p>
        </p:txBody>
      </p:sp>
      <p:sp>
        <p:nvSpPr>
          <p:cNvPr id="15" name="right-4" title="• Replaces data modelling"/>
          <p:cNvSpPr txBox="1"/>
          <p:nvPr/>
        </p:nvSpPr>
        <p:spPr>
          <a:xfrm>
            <a:off x="4663440" y="3154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Replaces data modelling</a:t>
            </a:r>
          </a:p>
        </p:txBody>
      </p:sp>
      <p:sp>
        <p:nvSpPr>
          <p:cNvPr id="16" name="right-5" title="• Magic that hides everything"/>
          <p:cNvSpPr txBox="1"/>
          <p:nvPr/>
        </p:nvSpPr>
        <p:spPr>
          <a:xfrm>
            <a:off x="4663440" y="3749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Magic that hides everything</a:t>
            </a:r>
          </a:p>
        </p:txBody>
      </p:sp>
      <p:sp>
        <p:nvSpPr>
          <p:cNvPr id="17" name="slide-num-11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The spectrum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E5FA"/>
                </a:solidFill>
                <a:latin typeface="Open Sans"/>
              </a:rPr>
              <a:t>The spectrum</a:t>
            </a:r>
          </a:p>
        </p:txBody>
      </p:sp>
      <p:sp>
        <p:nvSpPr>
          <p:cNvPr id="3" name="spectrum-manual" title="Manual&#10;(write everything)"/>
          <p:cNvSpPr txBox="1"/>
          <p:nvPr/>
        </p:nvSpPr>
        <p:spPr>
          <a:xfrm>
            <a:off x="365760" y="10972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6666"/>
                </a:solidFill>
                <a:latin typeface="Open Sans"/>
              </a:rPr>
              <a:t>Manual
(write everything)</a:t>
            </a:r>
          </a:p>
        </p:txBody>
      </p:sp>
      <p:sp>
        <p:nvSpPr>
          <p:cNvPr id="4" name="spectrum-config" title="Config-driven&#10;(YAML files)"/>
          <p:cNvSpPr txBox="1"/>
          <p:nvPr/>
        </p:nvSpPr>
        <p:spPr>
          <a:xfrm>
            <a:off x="3108960" y="10972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A5FF"/>
                </a:solidFill>
                <a:latin typeface="Open Sans"/>
              </a:rPr>
              <a:t>Config-driven
(YAML files)</a:t>
            </a:r>
          </a:p>
        </p:txBody>
      </p:sp>
      <p:sp>
        <p:nvSpPr>
          <p:cNvPr id="5" name="spectrum-self" title="Self-configuring&#10;(name + credential)"/>
          <p:cNvSpPr txBox="1"/>
          <p:nvPr/>
        </p:nvSpPr>
        <p:spPr>
          <a:xfrm>
            <a:off x="5852160" y="10972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E5FA"/>
                </a:solidFill>
                <a:latin typeface="Open Sans"/>
              </a:rPr>
              <a:t>Self-configuring
(name + credential)</a:t>
            </a:r>
          </a:p>
        </p:txBody>
      </p:sp>
      <p:sp>
        <p:nvSpPr>
          <p:cNvPr id="6" name="Rectangle 5" title="" descr="">
            <ns0:decorative xmlns:ns0="http://schemas.microsoft.com/office/drawing/2014/main" val="1"/>
          </p:cNvPr>
          <p:cNvSpPr/>
          <p:nvPr/>
        </p:nvSpPr>
        <p:spPr>
          <a:xfrm>
            <a:off x="365760" y="2331720"/>
            <a:ext cx="8412480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pectrum-note" title="We're building for the right — with escape hatches to the left."/>
          <p:cNvSpPr txBox="1"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EBDAFF"/>
                </a:solidFill>
                <a:latin typeface="Open Sans"/>
              </a:rPr>
              <a:t>We're building for the right — with escape hatches to the left.</a:t>
            </a:r>
          </a:p>
        </p:txBody>
      </p:sp>
      <p:sp>
        <p:nvSpPr>
          <p:cNvPr id="8" name="slide-num-12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ection: Architecture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AE5FA"/>
                </a:solidFill>
                <a:latin typeface="Open Sans"/>
              </a:rPr>
              <a:t>Architecture</a:t>
            </a:r>
          </a:p>
        </p:txBody>
      </p:sp>
      <p:sp>
        <p:nvSpPr>
          <p:cNvPr id="3" name="slide-subtitle" title="The moving parts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99999"/>
                </a:solidFill>
                <a:latin typeface="Open Sans"/>
              </a:rPr>
              <a:t>The moving parts</a:t>
            </a:r>
          </a:p>
        </p:txBody>
      </p:sp>
      <p:sp>
        <p:nvSpPr>
          <p:cNvPr id="4" name="slide-num-13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Five layers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E5FA"/>
                </a:solidFill>
                <a:latin typeface="Open Sans"/>
              </a:rPr>
              <a:t>Five layers</a:t>
            </a:r>
          </a:p>
        </p:txBody>
      </p:sp>
      <p:sp>
        <p:nvSpPr>
          <p:cNvPr id="3" name="layer-1-bg" title="Architecture layer 1: 1  Provider Registry + LLM Discovery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yer-1" title="1  Provider Registry + LLM Discovery"/>
          <p:cNvSpPr txBox="1"/>
          <p:nvPr/>
        </p:nvSpPr>
        <p:spPr>
          <a:xfrm>
            <a:off x="457200" y="96012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E5FA"/>
                </a:solidFill>
                <a:latin typeface="Consolas"/>
              </a:rPr>
              <a:t>1  Provider Registry + LLM Discovery</a:t>
            </a:r>
          </a:p>
        </p:txBody>
      </p:sp>
      <p:sp>
        <p:nvSpPr>
          <p:cNvPr id="5" name="layer-2-bg" title="Architecture layer 2: 2  Auth / Keyring  ·  Self-Healing Connector  ·  Pagination"/>
          <p:cNvSpPr/>
          <p:nvPr/>
        </p:nvSpPr>
        <p:spPr>
          <a:xfrm>
            <a:off x="274320" y="1783080"/>
            <a:ext cx="8595360" cy="77724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yer-2" title="2  Auth / Keyring  ·  Self-Healing Connector  ·  Pagination"/>
          <p:cNvSpPr txBox="1"/>
          <p:nvPr/>
        </p:nvSpPr>
        <p:spPr>
          <a:xfrm>
            <a:off x="457200" y="192024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6A5FF"/>
                </a:solidFill>
                <a:latin typeface="Consolas"/>
              </a:rPr>
              <a:t>2  Auth / Keyring  ·  Self-Healing Connector  ·  Pagination</a:t>
            </a:r>
          </a:p>
        </p:txBody>
      </p:sp>
      <p:sp>
        <p:nvSpPr>
          <p:cNvPr id="7" name="layer-3-bg" title="Architecture layer 3: 3  Pipeline Orchestrator  (asyncio) — Checkpoint · Retry · DAG"/>
          <p:cNvSpPr/>
          <p:nvPr/>
        </p:nvSpPr>
        <p:spPr>
          <a:xfrm>
            <a:off x="274320" y="2743200"/>
            <a:ext cx="8595360" cy="77724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yer-3" title="3  Pipeline Orchestrator  (asyncio) — Checkpoint · Retry · DAG"/>
          <p:cNvSpPr txBox="1"/>
          <p:nvPr/>
        </p:nvSpPr>
        <p:spPr>
          <a:xfrm>
            <a:off x="457200" y="28803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Consolas"/>
              </a:rPr>
              <a:t>3  Pipeline Orchestrator  (asyncio) — Checkpoint · Retry · DAG</a:t>
            </a:r>
          </a:p>
        </p:txBody>
      </p:sp>
      <p:sp>
        <p:nvSpPr>
          <p:cNvPr id="9" name="layer-4-bg" title="Architecture layer 4: 4  Output:  JSONL → S3 → DB → Warehouse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yer-4" title="4  Output:  JSONL → S3 → DB → Warehouse"/>
          <p:cNvSpPr txBox="1"/>
          <p:nvPr/>
        </p:nvSpPr>
        <p:spPr>
          <a:xfrm>
            <a:off x="457200" y="38404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99999"/>
                </a:solidFill>
                <a:latin typeface="Consolas"/>
              </a:rPr>
              <a:t>4  Output:  JSONL → S3 → DB → Warehouse</a:t>
            </a:r>
          </a:p>
        </p:txBody>
      </p:sp>
      <p:sp>
        <p:nvSpPr>
          <p:cNvPr id="11" name="slide-num-14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Layer 1 — Discovery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Layer 1 — Discovery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Layer 1 — Discovery" descr="Code block — # Known provider: LLM enriches the preset config = registry.infer_config(&quot;mlflow&quot;) # → source = &quot;preset+llm&quot; # Unknown provider (from slide 4): LLM discovers everything config = registry.infer_config(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Known provider: LLM enriches the preset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config = registry.infer_config("mlflow")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→ source = "preset+llm"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Unknown provider (from slide 4): LLM discovers everything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C6A5FF"/>
                </a:solidFill>
                <a:latin typeface="Consolas"/>
              </a:rPr>
              <a:t>config = registry.infer_config("my-feature-store")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→ auth_type=bearer, pagination=cursor, endpoints=[...]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→ source = "llm_discovered"</a:t>
            </a:r>
          </a:p>
        </p:txBody>
      </p:sp>
      <p:sp>
        <p:nvSpPr>
          <p:cNvPr id="5" name="slide-num-15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Layer 2 — Credentials (old way — risky)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Layer 2 — Credentials (old way — risky)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Layer 2 — Credentials (old way — risky)" descr="Code block — # .env file FEATURE_STORE_TOKEN=tok_abc123... MLFLOW_TRACKING_TOKEN=mlf_xyz789... # config.yaml feature_store:   token: ${FEATURE_STORE_TOKEN} # One git commit away from a breach.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.env file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06666"/>
                </a:solidFill>
                <a:latin typeface="Consolas"/>
              </a:rPr>
              <a:t>FEATURE_STORE_TOKEN=tok_abc123...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06666"/>
                </a:solidFill>
                <a:latin typeface="Consolas"/>
              </a:rPr>
              <a:t>MLFLOW_TRACKING_TOKEN=mlf_xyz789...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config.yaml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06666"/>
                </a:solidFill>
                <a:latin typeface="Consolas"/>
              </a:rPr>
              <a:t>feature_store: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06666"/>
                </a:solidFill>
                <a:latin typeface="Consolas"/>
              </a:rPr>
              <a:t>  token: ${FEATURE_STORE_TOKEN}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0000"/>
                </a:solidFill>
                <a:latin typeface="Consolas"/>
              </a:rPr>
              <a:t># One git commit away from a breach.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3920261400"/>
            <a:ext cx="8869680" cy="19596735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16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Layer 2 — Credentials (new way — secure)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Layer 2 — Credentials (new way — secure)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Layer 2 — Credentials (new way — secure)" descr="Code block — pipeline auth set my-feature-store Enter API token for my-feature-store: **** Token stored securely for my-feature-store. # macOS Keychain / Linux Secret Service # Never touches disk as plaintext.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pipeline auth set my-feature-store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Enter API token for my-feature-store: ****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C6A5FF"/>
                </a:solidFill>
                <a:latin typeface="Consolas"/>
              </a:rPr>
              <a:t>Token stored securely for my-feature-store.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macOS Keychain / Linux Secret Service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# Never touches disk as plaintext.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19597649400"/>
            <a:ext cx="8869680" cy="3919347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17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Layer 3 — Self-Healing Auth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Layer 3 — Self-Healing Auth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Layer 3 — Self-Healing Auth" descr="Code block — # &quot;Token works in curl but SDK throws 403.&quot; — slide 4, 15:30 Try 1: Authorization: Bearer tok_abc123  →  403 FAIL ✗ Try 2: Authorization: tok_abc123          →  200 OK   ✓ Learned. All future requests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"Token works in curl but SDK throws 403." — slide 4, 15:30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06666"/>
                </a:solidFill>
                <a:latin typeface="Consolas"/>
              </a:rPr>
              <a:t>Try 1: Authorization: Bearer tok_abc123  →  403 FAIL ✗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Try 2: Authorization: tok_abc123          →  200 OK   ✓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Learned. All future requests use the corrected format.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Tries: Bearer · raw · token prefix · X-API-Key · Api-Key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11758955400"/>
            <a:ext cx="8869680" cy="3919347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18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Layer 4 — Universal Pagination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E5FA"/>
                </a:solidFill>
                <a:latin typeface="Open Sans"/>
              </a:rPr>
              <a:t>Layer 4 — Universal Pagination</a:t>
            </a:r>
          </a:p>
        </p:txBody>
      </p:sp>
      <p:sp>
        <p:nvSpPr>
          <p:cNvPr id="3" name="pag-1-bg" title="Pagination type 1: Cursor-based"/>
          <p:cNvSpPr/>
          <p:nvPr/>
        </p:nvSpPr>
        <p:spPr>
          <a:xfrm>
            <a:off x="274320" y="822960"/>
            <a:ext cx="2834640" cy="25603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g-1-head" title="Cursor-based"/>
          <p:cNvSpPr txBox="1"/>
          <p:nvPr/>
        </p:nvSpPr>
        <p:spPr>
          <a:xfrm>
            <a:off x="411480" y="914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E5FA"/>
                </a:solidFill>
                <a:latin typeface="Open Sans"/>
              </a:rPr>
              <a:t>Cursor-based</a:t>
            </a:r>
          </a:p>
        </p:txBody>
      </p:sp>
      <p:sp>
        <p:nvSpPr>
          <p:cNvPr id="5" name="pag-1-body" title="next_cursor → start_cursor&#10;my-feature-store, W&amp;B, Prefect"/>
          <p:cNvSpPr txBox="1"/>
          <p:nvPr/>
        </p:nvSpPr>
        <p:spPr>
          <a:xfrm>
            <a:off x="411480" y="15087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nsolas"/>
              </a:rPr>
              <a:t>next_cursor → start_cursor
my-feature-store, W&amp;B, Prefect</a:t>
            </a:r>
          </a:p>
        </p:txBody>
      </p:sp>
      <p:sp>
        <p:nvSpPr>
          <p:cNvPr id="6" name="pag-2-bg" title="Pagination type 2: Offset-based"/>
          <p:cNvSpPr/>
          <p:nvPr/>
        </p:nvSpPr>
        <p:spPr>
          <a:xfrm>
            <a:off x="3200400" y="822960"/>
            <a:ext cx="2834640" cy="25603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-2-head" title="Offset-based"/>
          <p:cNvSpPr txBox="1"/>
          <p:nvPr/>
        </p:nvSpPr>
        <p:spPr>
          <a:xfrm>
            <a:off x="3337560" y="914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6A5FF"/>
                </a:solidFill>
                <a:latin typeface="Open Sans"/>
              </a:rPr>
              <a:t>Offset-based</a:t>
            </a:r>
          </a:p>
        </p:txBody>
      </p:sp>
      <p:sp>
        <p:nvSpPr>
          <p:cNvPr id="8" name="pag-2-body" title="page=1 → page=2…&#10;MLflow, Grafana, REST APIs"/>
          <p:cNvSpPr txBox="1"/>
          <p:nvPr/>
        </p:nvSpPr>
        <p:spPr>
          <a:xfrm>
            <a:off x="3337560" y="15087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nsolas"/>
              </a:rPr>
              <a:t>page=1 → page=2…
MLflow, Grafana, REST APIs</a:t>
            </a:r>
          </a:p>
        </p:txBody>
      </p:sp>
      <p:sp>
        <p:nvSpPr>
          <p:cNvPr id="9" name="pag-3-bg" title="Pagination type 3: GraphQL cursor"/>
          <p:cNvSpPr/>
          <p:nvPr/>
        </p:nvSpPr>
        <p:spPr>
          <a:xfrm>
            <a:off x="6126480" y="822960"/>
            <a:ext cx="2834640" cy="25603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-3-head" title="GraphQL cursor"/>
          <p:cNvSpPr txBox="1"/>
          <p:nvPr/>
        </p:nvSpPr>
        <p:spPr>
          <a:xfrm>
            <a:off x="6263640" y="914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BDAFF"/>
                </a:solidFill>
                <a:latin typeface="Open Sans"/>
              </a:rPr>
              <a:t>GraphQL cursor</a:t>
            </a:r>
          </a:p>
        </p:txBody>
      </p:sp>
      <p:sp>
        <p:nvSpPr>
          <p:cNvPr id="11" name="pag-3-body" title="pageInfo.endCursor&#10;W&amp;B runs, GitHub Actions"/>
          <p:cNvSpPr txBox="1"/>
          <p:nvPr/>
        </p:nvSpPr>
        <p:spPr>
          <a:xfrm>
            <a:off x="6263640" y="15087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nsolas"/>
              </a:rPr>
              <a:t>pageInfo.endCursor
W&amp;B runs, GitHub Actions</a:t>
            </a:r>
          </a:p>
        </p:txBody>
      </p:sp>
      <p:sp>
        <p:nvSpPr>
          <p:cNvPr id="12" name="infer-code" title="Code: infer_pagination auto-detects the pagination type from the response"/>
          <p:cNvSpPr txBox="1"/>
          <p:nvPr/>
        </p:nvSpPr>
        <p:spPr>
          <a:xfrm>
            <a:off x="274320" y="356616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E5FA"/>
                </a:solidFill>
                <a:latin typeface="Consolas"/>
              </a:rPr>
              <a:t>pagination = connector.infer_pagination(sample_response)</a:t>
            </a:r>
          </a:p>
        </p:txBody>
      </p:sp>
      <p:sp>
        <p:nvSpPr>
          <p:cNvPr id="13" name="slide-num-19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Layer 5 — Orchestration (asyncio DAG)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Layer 5 — Orchestration (asyncio DAG)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Layer 5 — Orchestration (asyncio DAG)" descr="Code block — # The exact pipeline from the demo pipeline = Pipeline(&quot;demo-pipeline&quot;) pipeline.add_step(&quot;extract_feature_store&quot;, extract_fs) pipeline.add_step(&quot;extract_mlflow&quot;,        extract_mlflow) pipeline.add_s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700">
                <a:solidFill>
                  <a:srgbClr val="999999"/>
                </a:solidFill>
                <a:latin typeface="Consolas"/>
              </a:rPr>
              <a:t># The exact pipeline from the demo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EBDAFF"/>
                </a:solidFill>
                <a:latin typeface="Consolas"/>
              </a:rPr>
              <a:t>pipeline = Pipeline("demo-pipeline")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pipeline.add_step("extract_feature_store", extract_fs)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pipeline.add_step("extract_mlflow",        extract_mlflow)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pipeline.add_step("create_linear_issues",  create_issues,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    depends_on=["extract_feature_store", "extract_mlflow"])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FFFFFF"/>
                </a:solidFill>
                <a:latin typeface="Consolas"/>
              </a:rPr>
              <a:t>result = await engine.run(pipeline)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999999"/>
                </a:solidFill>
                <a:latin typeface="Consolas"/>
              </a:rPr>
              <a:t># Steps 1-2 parallel → step 3 waits → sprint unblocked</a:t>
            </a:r>
          </a:p>
        </p:txBody>
      </p:sp>
      <p:sp>
        <p:nvSpPr>
          <p:cNvPr id="5" name="slide-num-20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 title="" descr="">
            <ns0:decorative xmlns:ns0="http://schemas.microsoft.com/office/drawing/2014/main" val="1"/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 title="Backup demo video slid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6666"/>
                </a:solidFill>
                <a:latin typeface="Open Sans"/>
              </a:rPr>
              <a:t>BACKUP — Demo Video</a:t>
            </a:r>
          </a:p>
        </p:txBody>
      </p:sp>
      <p:sp>
        <p:nvSpPr>
          <p:cNvPr id="4" name="instruction" title="Open Loom recording → play from timestamp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BDAFF"/>
                </a:solidFill>
                <a:latin typeface="Open Sans"/>
              </a:rPr>
              <a:t>Open Loom recording → play from timestamp</a:t>
            </a:r>
          </a:p>
        </p:txBody>
      </p:sp>
      <p:sp>
        <p:nvSpPr>
          <p:cNvPr id="5" name="ts-head" title="Timestamps: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AE5FA"/>
                </a:solidFill>
                <a:latin typeface="Open Sans"/>
              </a:rPr>
              <a:t>Timestamps:</a:t>
            </a:r>
          </a:p>
        </p:txBody>
      </p:sp>
      <p:sp>
        <p:nvSpPr>
          <p:cNvPr id="6" name="ts-1" title="0:00  Health check (pipeline doctor)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0:00  Health check (pipeline doctor)</a:t>
            </a:r>
          </a:p>
        </p:txBody>
      </p:sp>
      <p:sp>
        <p:nvSpPr>
          <p:cNvPr id="7" name="ts-2" title="0:20  Add feature store (LLM discovers)"/>
          <p:cNvSpPr txBox="1"/>
          <p:nvPr/>
        </p:nvSpPr>
        <p:spPr>
          <a:xfrm>
            <a:off x="457200" y="2990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0:20  Add feature store (LLM discovers)</a:t>
            </a:r>
          </a:p>
        </p:txBody>
      </p:sp>
      <p:sp>
        <p:nvSpPr>
          <p:cNvPr id="8" name="ts-3" title="1:10  Store credentials (auth docs shown)"/>
          <p:cNvSpPr txBox="1"/>
          <p:nvPr/>
        </p:nvSpPr>
        <p:spPr>
          <a:xfrm>
            <a:off x="457200" y="32826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1:10  Store credentials (auth docs shown)</a:t>
            </a:r>
          </a:p>
        </p:txBody>
      </p:sp>
      <p:sp>
        <p:nvSpPr>
          <p:cNvPr id="9" name="ts-4" title="1:50  First sync + self-healing"/>
          <p:cNvSpPr txBox="1"/>
          <p:nvPr/>
        </p:nvSpPr>
        <p:spPr>
          <a:xfrm>
            <a:off x="457200" y="35753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1:50  First sync + self-healing</a:t>
            </a:r>
          </a:p>
        </p:txBody>
      </p:sp>
      <p:sp>
        <p:nvSpPr>
          <p:cNvPr id="10" name="ts-5" title="2:30  Incremental sync"/>
          <p:cNvSpPr txBox="1"/>
          <p:nvPr/>
        </p:nvSpPr>
        <p:spPr>
          <a:xfrm>
            <a:off x="457200" y="38679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2:30  Incremental sync</a:t>
            </a:r>
          </a:p>
        </p:txBody>
      </p:sp>
      <p:sp>
        <p:nvSpPr>
          <p:cNvPr id="11" name="ts-6" title="2:50  Fraud detection pipeline (4.1s end-to-end)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2:50  Fraud detection pipeline (4.1s end-to-end)</a:t>
            </a:r>
          </a:p>
        </p:txBody>
      </p:sp>
      <p:sp>
        <p:nvSpPr>
          <p:cNvPr id="12" name="ts-7" title="4:00  Interactive assistant (pipeline chat)"/>
          <p:cNvSpPr txBox="1"/>
          <p:nvPr/>
        </p:nvSpPr>
        <p:spPr>
          <a:xfrm>
            <a:off x="457200" y="44531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onsolas"/>
              </a:rPr>
              <a:t>4:00  Interactive assistant (pipeline chat)</a:t>
            </a:r>
          </a:p>
        </p:txBody>
      </p:sp>
      <p:sp>
        <p:nvSpPr>
          <p:cNvPr id="13" name="loom-url" title="https://www.loom.com/share/8f29b2c846d74686977947a0e27ee1c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6666"/>
                </a:solidFill>
                <a:latin typeface="Consolas"/>
              </a:rPr>
              <a:t>https://www.loom.com/share/8f29b2c846d74686977947a0e27ee1c1</a:t>
            </a:r>
          </a:p>
        </p:txBody>
      </p:sp>
      <p:sp>
        <p:nvSpPr>
          <p:cNvPr id="14" name="slide-num-21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ection: Live Demo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AE5FA"/>
                </a:solidFill>
                <a:latin typeface="Open Sans"/>
              </a:rPr>
              <a:t>Live Demo</a:t>
            </a:r>
          </a:p>
        </p:txBody>
      </p:sp>
      <p:sp>
        <p:nvSpPr>
          <p:cNvPr id="3" name="slide-subtitle" title="Fraud detection — zero to pipeline in real time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99999"/>
                </a:solidFill>
                <a:latin typeface="Open Sans"/>
              </a:rPr>
              <a:t>Fraud detection — zero to pipeline in real time</a:t>
            </a:r>
          </a:p>
        </p:txBody>
      </p:sp>
      <p:sp>
        <p:nvSpPr>
          <p:cNvPr id="4" name="slide-num-22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Health check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Health check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Health check" descr="Code block — $ pipeline doctor   OK  Keyring accessible   OK  Provider registry loaded   OK  Checkpoint dir writable   OK  Source store accessible   All checks passed!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doctor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OK  Keyring accessible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OK  Provider registry loaded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OK  Checkpoint dir writable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OK  Source store accessible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All checks passed!</a:t>
            </a:r>
          </a:p>
        </p:txBody>
      </p:sp>
      <p:sp>
        <p:nvSpPr>
          <p:cNvPr id="5" name="slide-num-23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Add Feast — the feature store (no auth)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Add Feast — the feature store (no auth)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Add Feast — the feature store (no auth)" descr="Code block — $ pipeline source add feast --force   ✓ Registry: preset found for 'feast'   Source 'Feast' added  (from: preset+llm)   Base URL: http://127.0.0.1:6566   Auth:     none  ← local Feast, no token needed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source add feast --force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  ✓ Registry: preset found for 'feast'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Source 'Feast' added  (from: preset+llm)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Base URL: http://127.0.0.1:6566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Auth:     none  ← local Feast, no token needed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Endpoint: /get-online-features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source test feast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Connection to feast successful!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16549268400"/>
            <a:ext cx="8869680" cy="4137088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24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Add MLflow — local server (no auth)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Add MLflow — local server (no auth)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Add MLflow — local server (no auth)" descr="Code block — $ pipeline source add mlflow \     --base-url http://127.0.0.1:5001 --auth-type none   ✓ Registry: preset found for 'mlflow'   Source 'MLflow' added  (from: preset+llm)   Base URL:   http://127.0.0.1: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source add mlflow \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  --base-url http://127.0.0.1:5001 --auth-type none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  ✓ Registry: preset found for 'mlflow'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Source 'MLflow' added  (from: preset+llm)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Base URL:   http://127.0.0.1:5001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Auth:       none  ← local server, no auth needed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source test mlflow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Connection to mlflow successful!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20686356900"/>
            <a:ext cx="8869680" cy="4137088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25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Auth status — no tokens needed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Auth status — no tokens needed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Auth status — no tokens needed" descr="Code block — $ pipeline auth status   feast      │ none    │ no auth required   mlflow     │ none    │ no auth required   prometheus │ none    │ no auth required   linear     │ api_key │ authenticated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auth status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feast      │ none    │ no auth required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mlflow     │ none    │ no auth required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prometheus │ none    │ no auth required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linear     │ api_key │ authenticated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4138002900"/>
            <a:ext cx="8869680" cy="12411265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26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First sync — 13 runs, cursor pagination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First sync — 13 runs, cursor pagination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First sync — 13 runs, cursor pagination" descr="Code block — $ pipeline sync run mlflow   pagination: cursor (MLflow page_token, 5 per page)   1. fraud_rf_20260713_1353   2. fraud_rf_20260713_1348   3. fraud_rf_20260713_1346  ...   Done: 13 records   checkpoint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sync run mlflow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  pagination: cursor (MLflow page_token, 5 per page)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1. fraud_rf_20260713_1353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2. fraud_rf_20260713_1348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3. fraud_rf_20260713_1346  ...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Done: 13 records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  checkpoint: saved — cursor eyJvZmZzZXQiOiAxMH0=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20686356900"/>
            <a:ext cx="8869680" cy="4137088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27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Incremental sync — 3 records, cursor resumes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Incremental sync — 3 records, cursor resumes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Incremental sync — 3 records, cursor resumes" descr="Code block — $ pipeline sync run mlflow   Resuming from checkpoint cursor: eyJvZmZzZXQiOiAxMH0=   Done: 3 records  ← only new runs since last sync $ pipeline sync status   mlflow | cursor: eyJvZmZzZX... | 2026-07-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sync run mlflow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  Resuming from checkpoint cursor: eyJvZmZzZXQiOiAxMH0=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Done: 3 records  ← only new runs since last sync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sync status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  mlflow | cursor: eyJvZmZzZX... | 2026-07-13 17:04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8275091400"/>
            <a:ext cx="8869680" cy="4137088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28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Interactive assistant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Interactive assistant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Interactive assistant" descr="Code block — $ pipeline chat You: what sources are failing?   Prometheus is failing — server not running.   Want me to start it locally? You: yes start it   ✓ prometheus ready at http://127.0.0.1:9090 You: show me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$ pipeline chat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You: what sources are failing?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Prometheus is failing — server not running.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  Want me to start it locally?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You: yes start it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✓ prometheus ready at http://127.0.0.1:9090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EBDAFF"/>
                </a:solidFill>
                <a:latin typeface="Consolas"/>
              </a:rPr>
              <a:t>You: show me all my sources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16549268400"/>
            <a:ext cx="8869680" cy="8274177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29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Demo — Fraud detection pipeline → Linear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Demo — Fraud detection pipeline → Linear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Demo — Fraud detection pipeline → Linear" descr="Code block — $ uv run python -m fraud_demo.run_pipeline   ✓ Feast: 50 feature vectors pulled   ✓ Transactions: 15,000 records  (5.5% fraud rate)   ✓ MLflow: run logged  accuracy=64.7%  recall=43.6%   ✓ Prometheus: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$ uv run python -m fraud_demo.run_pipeline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  ✓ Feast: 50 feature vectors pulled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  ✓ Transactions: 15,000 records  (5.5% fraud rate)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  ✓ MLflow: run logged  accuracy=64.7%  recall=43.6%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EBDAFF"/>
                </a:solidFill>
                <a:latin typeface="Consolas"/>
              </a:rPr>
              <a:t>  ✓ Prometheus: metrics pushed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  ✓ Linear issue: https://linear.app/olusola-akinsulere/...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FFFFFF"/>
                </a:solidFill>
                <a:latin typeface="Consolas"/>
              </a:rPr>
              <a:t>  Pipeline completed in 4.4s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999999"/>
                </a:solidFill>
                <a:latin typeface="Consolas"/>
              </a:rPr>
              <a:t>  No connector classes. No YAML. No SDK imports per source.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18508941900"/>
            <a:ext cx="8869680" cy="3701605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30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ection: The Reliability Playbook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AE5FA"/>
                </a:solidFill>
                <a:latin typeface="Open Sans"/>
              </a:rPr>
              <a:t>The Reliability Playbook</a:t>
            </a:r>
          </a:p>
        </p:txBody>
      </p:sp>
      <p:sp>
        <p:nvSpPr>
          <p:cNvPr id="3" name="slide-subtitle" title="The patterns that make it trustworthy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99999"/>
                </a:solidFill>
                <a:latin typeface="Open Sans"/>
              </a:rPr>
              <a:t>The patterns that make it trustworthy</a:t>
            </a:r>
          </a:p>
        </p:txBody>
      </p:sp>
      <p:sp>
        <p:nvSpPr>
          <p:cNvPr id="4" name="slide-num-31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Pattern 1 — Retries + Backoff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Pattern 1 — Retries + Backoff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Pattern 1 — Retries + Backoff" descr="Code block — from tenacity import retry, wait_exponential, stop_after_attempt @retry(     wait=wait_exponential(multiplier=1, max=60),  # 1s→60s     stop=stop_after_attempt(3),     retry=retry_if_exception_type((T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700">
                <a:solidFill>
                  <a:srgbClr val="EBDAFF"/>
                </a:solidFill>
                <a:latin typeface="Consolas"/>
              </a:rPr>
              <a:t>from tenacity import retry, wait_exponential, stop_after_attempt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@retry(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    wait=wait_exponential(multiplier=1, max=60),  # 1s→60s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    stop=stop_after_attempt(3),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    retry=retry_if_exception_type((TransportError, RateLimitError)),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C6A5FF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EBDAFF"/>
                </a:solidFill>
                <a:latin typeface="Consolas"/>
              </a:rPr>
              <a:t>async def request(self, method, path, **kwargs):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E06666"/>
                </a:solidFill>
                <a:latin typeface="Consolas"/>
              </a:rPr>
              <a:t>    if response.status_code == 429:  # Rate limited</a:t>
            </a:r>
          </a:p>
          <a:p>
            <a:pPr>
              <a:spcBef>
                <a:spcPts val="100"/>
              </a:spcBef>
            </a:pPr>
            <a:r>
              <a:rPr sz="1700">
                <a:solidFill>
                  <a:srgbClr val="AAE5FA"/>
                </a:solidFill>
                <a:latin typeface="Consolas"/>
              </a:rPr>
              <a:t>        raise RateLimitError(retry_after)   # → tenacity retries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7404125400"/>
            <a:ext cx="8869680" cy="1850802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32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Pattern 2 — Checkpointing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Pattern 2 — Checkpointing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Pattern 2 — Checkpointing" descr="Code block — # After every 100 records, persist the cursor if count % 100 == 0 and last_cursor:     checkpoint_mgr.save(CheckpointState(         source_id=&quot;my-feature-store:/v1/features&quot;,         cursor=last_curso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# After every 100 records, persist the cursor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if count % 100 == 0 and last_cursor: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checkpoint_mgr.save(CheckpointState(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    source_id="my-feature-store:/v1/features",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C6A5FF"/>
                </a:solidFill>
                <a:latin typeface="Consolas"/>
              </a:rPr>
              <a:t>        cursor=last_cursor,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    last_sync_at=datetime.now(),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))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# Crash at 5,000?  Restart picks up at 5,001. Not from zero.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31355690400"/>
            <a:ext cx="8869680" cy="3919347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33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Pattern 3 — Self-Healing Auth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Pattern 3 — Self-Healing Auth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Pattern 3 — Self-Healing Auth" descr="Code block — AUTH_FORMATS = [     (&quot;Bearer&quot;,  &quot;Authorization&quot;),  # MLflow managed, W&amp;B     (&quot;&quot;,        &quot;Authorization&quot;),  # MLflow self-hosted     (&quot;token&quot;,   &quot;Authorization&quot;),  # Airflow, older APIs     (&quot;&quot;,     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AUTH_FORMATS = [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("Bearer",  "Authorization"),  # MLflow managed, W&amp;B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("",        "Authorization"),  # MLflow self-hosted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("token",   "Authorization"),  # Airflow, older APIs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("",        "X-API-Key"),      # Grafana, observability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    ("",        "Api-Key"),        # Prometheus pushgateway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]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C6A5FF"/>
                </a:solidFill>
                <a:latin typeface="Consolas"/>
              </a:rPr>
              <a:t>for prefix, header in AUTH_FORMATS: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C6A5FF"/>
                </a:solidFill>
                <a:latin typeface="Consolas"/>
              </a:rPr>
              <a:t>    if (await try_auth(prefix, header)).ok: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        self._auth_prefix = prefix; break  # Saved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27436343400"/>
            <a:ext cx="8869680" cy="11758041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34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Pattern 4 — Observability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Pattern 4 — Observability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Pattern 4 — Observability" descr="Code block — {&quot;event&quot;:&quot;pipeline_started&quot;,  &quot;pipeline&quot;:&quot;demo-pipeline&quot;} {&quot;event&quot;:&quot;step_started&quot;,      &quot;step&quot;:&quot;extract_feature_store&quot;} {&quot;event&quot;:&quot;healing_success&quot;,   &quot;new_prefix&quot;:&quot;&quot;, &quot;new_header&quot;:&quot;Authorization&quot;} {&quot;e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800">
                <a:solidFill>
                  <a:srgbClr val="999999"/>
                </a:solidFill>
                <a:latin typeface="Consolas"/>
              </a:rPr>
              <a:t>{"event":"pipeline_started",  "pipeline":"demo-pipeline"}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EBDAFF"/>
                </a:solidFill>
                <a:latin typeface="Consolas"/>
              </a:rPr>
              <a:t>{"event":"step_started",      "step":"extract_feature_store"}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C6A5FF"/>
                </a:solidFill>
                <a:latin typeface="Consolas"/>
              </a:rPr>
              <a:t>{"event":"healing_success",   "new_prefix":"", "new_header":"Authorization"}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{"event":"step_completed",    "step":"extract_feature_store", "records":50284}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{"event":"step_completed",    "step":"extract_mlflow",        "records":8421}</a:t>
            </a:r>
          </a:p>
          <a:p>
            <a:pPr>
              <a:spcBef>
                <a:spcPts val="100"/>
              </a:spcBef>
            </a:pPr>
            <a:r>
              <a:rPr sz="1800">
                <a:solidFill>
                  <a:srgbClr val="AAE5FA"/>
                </a:solidFill>
                <a:latin typeface="Consolas"/>
              </a:rPr>
              <a:t>{"event":"pipeline_completed","total_records":58705, "ms":4850}</a:t>
            </a:r>
          </a:p>
        </p:txBody>
      </p:sp>
      <p:sp>
        <p:nvSpPr>
          <p:cNvPr id="5" name="Rectangle 4" title="Callout" descr="Callout box highlighting key information"/>
          <p:cNvSpPr/>
          <p:nvPr/>
        </p:nvSpPr>
        <p:spPr>
          <a:xfrm>
            <a:off x="137160" y="7839608400"/>
            <a:ext cx="8869680" cy="3919347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num-35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even patterns that make it trustworthy"/>
          <p:cNvSpPr txBox="1"/>
          <p:nvPr/>
        </p:nvSpPr>
        <p:spPr>
          <a:xfrm>
            <a:off x="493776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Seven patterns that make it trustworthy</a:t>
            </a:r>
          </a:p>
        </p:txBody>
      </p:sp>
      <p:sp>
        <p:nvSpPr>
          <p:cNvPr id="3" name="table-header" title="Table header row"/>
          <p:cNvSpPr/>
          <p:nvPr/>
        </p:nvSpPr>
        <p:spPr>
          <a:xfrm>
            <a:off x="182880" y="658368"/>
            <a:ext cx="8778240" cy="530352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h-1" title="What goes wrong"/>
          <p:cNvSpPr txBox="1"/>
          <p:nvPr/>
        </p:nvSpPr>
        <p:spPr>
          <a:xfrm>
            <a:off x="274320" y="7498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E5FA"/>
                </a:solidFill>
                <a:latin typeface="Open Sans"/>
              </a:rPr>
              <a:t>What goes wrong</a:t>
            </a:r>
          </a:p>
        </p:txBody>
      </p:sp>
      <p:sp>
        <p:nvSpPr>
          <p:cNvPr id="5" name="th-2" title="Pattern"/>
          <p:cNvSpPr txBox="1"/>
          <p:nvPr/>
        </p:nvSpPr>
        <p:spPr>
          <a:xfrm>
            <a:off x="3383280" y="7498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E5FA"/>
                </a:solidFill>
                <a:latin typeface="Open Sans"/>
              </a:rPr>
              <a:t>Pattern</a:t>
            </a:r>
          </a:p>
        </p:txBody>
      </p:sp>
      <p:sp>
        <p:nvSpPr>
          <p:cNvPr id="6" name="th-3" title="How"/>
          <p:cNvSpPr txBox="1"/>
          <p:nvPr/>
        </p:nvSpPr>
        <p:spPr>
          <a:xfrm>
            <a:off x="5943600" y="7498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E5FA"/>
                </a:solidFill>
                <a:latin typeface="Open Sans"/>
              </a:rPr>
              <a:t>How</a:t>
            </a:r>
          </a:p>
        </p:txBody>
      </p:sp>
      <p:sp>
        <p:nvSpPr>
          <p:cNvPr id="7" name="Rectangle 6" title="" descr="">
            <ns0:decorative xmlns:ns0="http://schemas.microsoft.com/office/drawing/2014/main" val="1"/>
          </p:cNvPr>
          <p:cNvSpPr/>
          <p:nvPr/>
        </p:nvSpPr>
        <p:spPr>
          <a:xfrm>
            <a:off x="182880" y="1188720"/>
            <a:ext cx="8778240" cy="530352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1c1" title="Network blip"/>
          <p:cNvSpPr txBox="1"/>
          <p:nvPr/>
        </p:nvSpPr>
        <p:spPr>
          <a:xfrm>
            <a:off x="274320" y="1280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Network blip</a:t>
            </a:r>
          </a:p>
        </p:txBody>
      </p:sp>
      <p:sp>
        <p:nvSpPr>
          <p:cNvPr id="9" name="r1c2" title="Retry + backoff"/>
          <p:cNvSpPr txBox="1"/>
          <p:nvPr/>
        </p:nvSpPr>
        <p:spPr>
          <a:xfrm>
            <a:off x="3383280" y="1280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Retry + backoff</a:t>
            </a:r>
          </a:p>
        </p:txBody>
      </p:sp>
      <p:sp>
        <p:nvSpPr>
          <p:cNvPr id="10" name="r1c3" title="tenacity decorator"/>
          <p:cNvSpPr txBox="1"/>
          <p:nvPr/>
        </p:nvSpPr>
        <p:spPr>
          <a:xfrm>
            <a:off x="5943600" y="1280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tenacity decorator</a:t>
            </a:r>
          </a:p>
        </p:txBody>
      </p:sp>
      <p:sp>
        <p:nvSpPr>
          <p:cNvPr id="11" name="Rectangle 10" title="" descr="">
            <ns1:decorative xmlns:ns1="http://schemas.microsoft.com/office/drawing/2014/main" val="1"/>
          </p:cNvPr>
          <p:cNvSpPr/>
          <p:nvPr/>
        </p:nvSpPr>
        <p:spPr>
          <a:xfrm>
            <a:off x="182880" y="1719072"/>
            <a:ext cx="8778240" cy="530352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2c1" title="Rate limited"/>
          <p:cNvSpPr txBox="1"/>
          <p:nvPr/>
        </p:nvSpPr>
        <p:spPr>
          <a:xfrm>
            <a:off x="274320" y="18105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Rate limited</a:t>
            </a:r>
          </a:p>
        </p:txBody>
      </p:sp>
      <p:sp>
        <p:nvSpPr>
          <p:cNvPr id="13" name="r2c2" title="Respect Retry-After"/>
          <p:cNvSpPr txBox="1"/>
          <p:nvPr/>
        </p:nvSpPr>
        <p:spPr>
          <a:xfrm>
            <a:off x="3383280" y="1810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Respect Retry-After</a:t>
            </a:r>
          </a:p>
        </p:txBody>
      </p:sp>
      <p:sp>
        <p:nvSpPr>
          <p:cNvPr id="14" name="r2c3" title="429 detection"/>
          <p:cNvSpPr txBox="1"/>
          <p:nvPr/>
        </p:nvSpPr>
        <p:spPr>
          <a:xfrm>
            <a:off x="5943600" y="1810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429 detection</a:t>
            </a:r>
          </a:p>
        </p:txBody>
      </p:sp>
      <p:sp>
        <p:nvSpPr>
          <p:cNvPr id="15" name="Rectangle 14" title="" descr="">
            <ns2:decorative xmlns:ns2="http://schemas.microsoft.com/office/drawing/2014/main" val="1"/>
          </p:cNvPr>
          <p:cNvSpPr/>
          <p:nvPr/>
        </p:nvSpPr>
        <p:spPr>
          <a:xfrm>
            <a:off x="182880" y="2249424"/>
            <a:ext cx="8778240" cy="530352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3c1" title="Process crash"/>
          <p:cNvSpPr txBox="1"/>
          <p:nvPr/>
        </p:nvSpPr>
        <p:spPr>
          <a:xfrm>
            <a:off x="274320" y="23408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Process crash</a:t>
            </a:r>
          </a:p>
        </p:txBody>
      </p:sp>
      <p:sp>
        <p:nvSpPr>
          <p:cNvPr id="17" name="r3c2" title="Checkpoint resume"/>
          <p:cNvSpPr txBox="1"/>
          <p:nvPr/>
        </p:nvSpPr>
        <p:spPr>
          <a:xfrm>
            <a:off x="3383280" y="234086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Checkpoint resume</a:t>
            </a:r>
          </a:p>
        </p:txBody>
      </p:sp>
      <p:sp>
        <p:nvSpPr>
          <p:cNvPr id="18" name="r3c3" title="File-based cursors"/>
          <p:cNvSpPr txBox="1"/>
          <p:nvPr/>
        </p:nvSpPr>
        <p:spPr>
          <a:xfrm>
            <a:off x="5943600" y="234086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File-based cursors</a:t>
            </a:r>
          </a:p>
        </p:txBody>
      </p:sp>
      <p:sp>
        <p:nvSpPr>
          <p:cNvPr id="19" name="Rectangle 18" title="" descr="">
            <ns3:decorative xmlns:ns3="http://schemas.microsoft.com/office/drawing/2014/main" val="1"/>
          </p:cNvPr>
          <p:cNvSpPr/>
          <p:nvPr/>
        </p:nvSpPr>
        <p:spPr>
          <a:xfrm>
            <a:off x="182880" y="2779776"/>
            <a:ext cx="8778240" cy="530352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4c1" title="Wrong auth format"/>
          <p:cNvSpPr txBox="1"/>
          <p:nvPr/>
        </p:nvSpPr>
        <p:spPr>
          <a:xfrm>
            <a:off x="274320" y="287121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Wrong auth format</a:t>
            </a:r>
          </a:p>
        </p:txBody>
      </p:sp>
      <p:sp>
        <p:nvSpPr>
          <p:cNvPr id="21" name="r4c2" title="Self-healing"/>
          <p:cNvSpPr txBox="1"/>
          <p:nvPr/>
        </p:nvSpPr>
        <p:spPr>
          <a:xfrm>
            <a:off x="3383280" y="28712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Self-healing</a:t>
            </a:r>
          </a:p>
        </p:txBody>
      </p:sp>
      <p:sp>
        <p:nvSpPr>
          <p:cNvPr id="22" name="r4c3" title="Format rotation"/>
          <p:cNvSpPr txBox="1"/>
          <p:nvPr/>
        </p:nvSpPr>
        <p:spPr>
          <a:xfrm>
            <a:off x="5943600" y="28712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Format rotation</a:t>
            </a:r>
          </a:p>
        </p:txBody>
      </p:sp>
      <p:sp>
        <p:nvSpPr>
          <p:cNvPr id="23" name="Rectangle 22" title="" descr="">
            <ns4:decorative xmlns:ns4="http://schemas.microsoft.com/office/drawing/2014/main" val="1"/>
          </p:cNvPr>
          <p:cNvSpPr/>
          <p:nvPr/>
        </p:nvSpPr>
        <p:spPr>
          <a:xfrm>
            <a:off x="182880" y="3310128"/>
            <a:ext cx="8778240" cy="530352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5c1" title="10M record dataset"/>
          <p:cNvSpPr txBox="1"/>
          <p:nvPr/>
        </p:nvSpPr>
        <p:spPr>
          <a:xfrm>
            <a:off x="274320" y="34015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10M record dataset</a:t>
            </a:r>
          </a:p>
        </p:txBody>
      </p:sp>
      <p:sp>
        <p:nvSpPr>
          <p:cNvPr id="25" name="r5c2" title="Pagination"/>
          <p:cNvSpPr txBox="1"/>
          <p:nvPr/>
        </p:nvSpPr>
        <p:spPr>
          <a:xfrm>
            <a:off x="3383280" y="34015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Pagination</a:t>
            </a:r>
          </a:p>
        </p:txBody>
      </p:sp>
      <p:sp>
        <p:nvSpPr>
          <p:cNvPr id="26" name="r5c3" title="Cursor/offset/GQL"/>
          <p:cNvSpPr txBox="1"/>
          <p:nvPr/>
        </p:nvSpPr>
        <p:spPr>
          <a:xfrm>
            <a:off x="5943600" y="34015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Cursor/offset/GQL</a:t>
            </a:r>
          </a:p>
        </p:txBody>
      </p:sp>
      <p:sp>
        <p:nvSpPr>
          <p:cNvPr id="27" name="Rectangle 26" title="" descr="">
            <ns5:decorative xmlns:ns5="http://schemas.microsoft.com/office/drawing/2014/main" val="1"/>
          </p:cNvPr>
          <p:cNvSpPr/>
          <p:nvPr/>
        </p:nvSpPr>
        <p:spPr>
          <a:xfrm>
            <a:off x="182880" y="3840480"/>
            <a:ext cx="8778240" cy="530352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6c1" title="Stale data"/>
          <p:cNvSpPr txBox="1"/>
          <p:nvPr/>
        </p:nvSpPr>
        <p:spPr>
          <a:xfrm>
            <a:off x="274320" y="3931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Stale data</a:t>
            </a:r>
          </a:p>
        </p:txBody>
      </p:sp>
      <p:sp>
        <p:nvSpPr>
          <p:cNvPr id="29" name="r6c2" title="Incremental sync"/>
          <p:cNvSpPr txBox="1"/>
          <p:nvPr/>
        </p:nvSpPr>
        <p:spPr>
          <a:xfrm>
            <a:off x="3383280" y="3931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Incremental sync</a:t>
            </a:r>
          </a:p>
        </p:txBody>
      </p:sp>
      <p:sp>
        <p:nvSpPr>
          <p:cNvPr id="30" name="r6c3" title="Watermarks"/>
          <p:cNvSpPr txBox="1"/>
          <p:nvPr/>
        </p:nvSpPr>
        <p:spPr>
          <a:xfrm>
            <a:off x="594360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Watermarks</a:t>
            </a:r>
          </a:p>
        </p:txBody>
      </p:sp>
      <p:sp>
        <p:nvSpPr>
          <p:cNvPr id="31" name="Rectangle 30" title="" descr="">
            <ns6:decorative xmlns:ns6="http://schemas.microsoft.com/office/drawing/2014/main" val="1"/>
          </p:cNvPr>
          <p:cNvSpPr/>
          <p:nvPr/>
        </p:nvSpPr>
        <p:spPr>
          <a:xfrm>
            <a:off x="182880" y="4370832"/>
            <a:ext cx="8778240" cy="530352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7c1" title="Silent failures"/>
          <p:cNvSpPr txBox="1"/>
          <p:nvPr/>
        </p:nvSpPr>
        <p:spPr>
          <a:xfrm>
            <a:off x="274320" y="44622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Silent failures</a:t>
            </a:r>
          </a:p>
        </p:txBody>
      </p:sp>
      <p:sp>
        <p:nvSpPr>
          <p:cNvPr id="33" name="r7c2" title="Structured logs"/>
          <p:cNvSpPr txBox="1"/>
          <p:nvPr/>
        </p:nvSpPr>
        <p:spPr>
          <a:xfrm>
            <a:off x="3383280" y="4462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Structured logs</a:t>
            </a:r>
          </a:p>
        </p:txBody>
      </p:sp>
      <p:sp>
        <p:nvSpPr>
          <p:cNvPr id="34" name="r7c3" title="structlog JSON"/>
          <p:cNvSpPr txBox="1"/>
          <p:nvPr/>
        </p:nvSpPr>
        <p:spPr>
          <a:xfrm>
            <a:off x="5943600" y="4462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BDAFF"/>
                </a:solidFill>
                <a:latin typeface="Open Sans"/>
              </a:rPr>
              <a:t>structlog JSON</a:t>
            </a:r>
          </a:p>
        </p:txBody>
      </p:sp>
      <p:sp>
        <p:nvSpPr>
          <p:cNvPr id="35" name="slide-num-36" title="" descr="">
            <ns7:decorative xmlns:ns7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Section: Takeaways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AE5FA"/>
                </a:solidFill>
                <a:latin typeface="Open Sans"/>
              </a:rPr>
              <a:t>Takeaways</a:t>
            </a:r>
          </a:p>
        </p:txBody>
      </p:sp>
      <p:sp>
        <p:nvSpPr>
          <p:cNvPr id="3" name="slide-subtitle" title="Your checklist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99999"/>
                </a:solidFill>
                <a:latin typeface="Open Sans"/>
              </a:rPr>
              <a:t>Your checklist</a:t>
            </a:r>
          </a:p>
        </p:txBody>
      </p:sp>
      <p:sp>
        <p:nvSpPr>
          <p:cNvPr id="4" name="slide-num-37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Building self-configuring connectors"/>
          <p:cNvSpPr txBox="1"/>
          <p:nvPr/>
        </p:nvSpPr>
        <p:spPr>
          <a:xfrm>
            <a:off x="493776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Building self-configuring connectors</a:t>
            </a:r>
          </a:p>
        </p:txBody>
      </p:sp>
      <p:sp>
        <p:nvSpPr>
          <p:cNvPr id="3" name="check-1" title="✔  Registry of known patterns  (accelerators, not requirements)"/>
          <p:cNvSpPr txBox="1"/>
          <p:nvPr/>
        </p:nvSpPr>
        <p:spPr>
          <a:xfrm>
            <a:off x="365760" y="731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Registry of known patterns  (accelerators, not requirements)</a:t>
            </a:r>
          </a:p>
        </p:txBody>
      </p:sp>
      <p:sp>
        <p:nvSpPr>
          <p:cNvPr id="4" name="check-2" title="✔  LLM-driven discovery  — with offline fallback"/>
          <p:cNvSpPr txBox="1"/>
          <p:nvPr/>
        </p:nvSpPr>
        <p:spPr>
          <a:xfrm>
            <a:off x="365760" y="126644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LLM-driven discovery  — with offline fallback</a:t>
            </a:r>
          </a:p>
        </p:txBody>
      </p:sp>
      <p:sp>
        <p:nvSpPr>
          <p:cNvPr id="5" name="check-3" title="✔  OS keychain for credentials  (never .env, never git)"/>
          <p:cNvSpPr txBox="1"/>
          <p:nvPr/>
        </p:nvSpPr>
        <p:spPr>
          <a:xfrm>
            <a:off x="365760" y="180136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OS keychain for credentials  (never .env, never git)</a:t>
            </a:r>
          </a:p>
        </p:txBody>
      </p:sp>
      <p:sp>
        <p:nvSpPr>
          <p:cNvPr id="6" name="check-4" title="✔  Self-healing auth  — try formats before failing"/>
          <p:cNvSpPr txBox="1"/>
          <p:nvPr/>
        </p:nvSpPr>
        <p:spPr>
          <a:xfrm>
            <a:off x="365760" y="2336291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Self-healing auth  — try formats before failing</a:t>
            </a:r>
          </a:p>
        </p:txBody>
      </p:sp>
      <p:sp>
        <p:nvSpPr>
          <p:cNvPr id="7" name="check-5" title="✔  Universal pagination  — cursor · offset · link-header · GQL"/>
          <p:cNvSpPr txBox="1"/>
          <p:nvPr/>
        </p:nvSpPr>
        <p:spPr>
          <a:xfrm>
            <a:off x="365760" y="2871215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Universal pagination  — cursor · offset · link-header · GQL</a:t>
            </a:r>
          </a:p>
        </p:txBody>
      </p:sp>
      <p:sp>
        <p:nvSpPr>
          <p:cNvPr id="8" name="check-6" title="✔  Checkpoint after every batch  — crash = resume, not restart"/>
          <p:cNvSpPr txBox="1"/>
          <p:nvPr/>
        </p:nvSpPr>
        <p:spPr>
          <a:xfrm>
            <a:off x="365760" y="3406139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Checkpoint after every batch  — crash = resume, not restart</a:t>
            </a:r>
          </a:p>
        </p:txBody>
      </p:sp>
      <p:sp>
        <p:nvSpPr>
          <p:cNvPr id="9" name="check-7" title="✔  Structured logs at every state transition"/>
          <p:cNvSpPr txBox="1"/>
          <p:nvPr/>
        </p:nvSpPr>
        <p:spPr>
          <a:xfrm>
            <a:off x="365760" y="3941063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Structured logs at every state transition</a:t>
            </a:r>
          </a:p>
        </p:txBody>
      </p:sp>
      <p:sp>
        <p:nvSpPr>
          <p:cNvPr id="10" name="check-8" title="✔  Incremental by default  — full-refresh as an escape hatch"/>
          <p:cNvSpPr txBox="1"/>
          <p:nvPr/>
        </p:nvSpPr>
        <p:spPr>
          <a:xfrm>
            <a:off x="365760" y="44759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BDAFF"/>
                </a:solidFill>
                <a:latin typeface="Open Sans"/>
              </a:rPr>
              <a:t>✔  Incremental by default  — full-refresh as an escape hatch</a:t>
            </a:r>
          </a:p>
        </p:txBody>
      </p:sp>
      <p:sp>
        <p:nvSpPr>
          <p:cNvPr id="11" name="slide-num-38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The promise, delivered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The promise, delivered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The promise, delivered" descr="Code block — pipeline source add &lt;any-api&gt; pipeline auth set &lt;any-api&gt; pipeline sync run &lt;any-api&gt; # my-feature-store · MLflow · W&amp;B · Airflow # Prometheus · GitHub · Linear · any-internal-api # anything-with-an-h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2200">
                <a:solidFill>
                  <a:srgbClr val="AAE5FA"/>
                </a:solidFill>
                <a:latin typeface="Consolas"/>
              </a:rPr>
              <a:t>pipeline source add &lt;any-api&gt;</a:t>
            </a:r>
          </a:p>
          <a:p>
            <a:pPr>
              <a:spcBef>
                <a:spcPts val="100"/>
              </a:spcBef>
            </a:pPr>
            <a:r>
              <a:rPr sz="2200">
                <a:solidFill>
                  <a:srgbClr val="C6A5FF"/>
                </a:solidFill>
                <a:latin typeface="Consolas"/>
              </a:rPr>
              <a:t>pipeline auth set &lt;any-api&gt;</a:t>
            </a:r>
          </a:p>
          <a:p>
            <a:pPr>
              <a:spcBef>
                <a:spcPts val="100"/>
              </a:spcBef>
            </a:pPr>
            <a:r>
              <a:rPr sz="2200">
                <a:solidFill>
                  <a:srgbClr val="FFFFFF"/>
                </a:solidFill>
                <a:latin typeface="Consolas"/>
              </a:rPr>
              <a:t>pipeline sync run &lt;any-api&gt;</a:t>
            </a:r>
          </a:p>
          <a:p>
            <a:pPr>
              <a:spcBef>
                <a:spcPts val="100"/>
              </a:spcBef>
            </a:pPr>
            <a:r>
              <a:rPr sz="22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</a:pPr>
            <a:r>
              <a:rPr sz="2200">
                <a:solidFill>
                  <a:srgbClr val="AAE5FA"/>
                </a:solidFill>
                <a:latin typeface="Consolas"/>
              </a:rPr>
              <a:t># my-feature-store · MLflow · W&amp;B · Airflow</a:t>
            </a:r>
          </a:p>
          <a:p>
            <a:pPr>
              <a:spcBef>
                <a:spcPts val="100"/>
              </a:spcBef>
            </a:pPr>
            <a:r>
              <a:rPr sz="2200">
                <a:solidFill>
                  <a:srgbClr val="999999"/>
                </a:solidFill>
                <a:latin typeface="Consolas"/>
              </a:rPr>
              <a:t># Prometheus · GitHub · Linear · any-internal-api</a:t>
            </a:r>
          </a:p>
          <a:p>
            <a:pPr>
              <a:spcBef>
                <a:spcPts val="100"/>
              </a:spcBef>
            </a:pPr>
            <a:r>
              <a:rPr sz="2200">
                <a:solidFill>
                  <a:srgbClr val="999999"/>
                </a:solidFill>
                <a:latin typeface="Consolas"/>
              </a:rPr>
              <a:t># anything-with-an-http-endpoint</a:t>
            </a:r>
          </a:p>
        </p:txBody>
      </p:sp>
      <p:sp>
        <p:nvSpPr>
          <p:cNvPr id="5" name="slide-num-39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When to graduate beyond this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E5FA"/>
                </a:solidFill>
                <a:latin typeface="Open Sans"/>
              </a:rPr>
              <a:t>When to graduate beyond this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4480560" y="731520"/>
            <a:ext cx="27432" cy="42062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ft-heading" title="Left column: This is enough when:"/>
          <p:cNvSpPr txBox="1"/>
          <p:nvPr/>
        </p:nvSpPr>
        <p:spPr>
          <a:xfrm>
            <a:off x="365760" y="777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E5FA"/>
                </a:solidFill>
                <a:latin typeface="Open Sans"/>
              </a:rPr>
              <a:t>This is enough when:</a:t>
            </a:r>
          </a:p>
        </p:txBody>
      </p:sp>
      <p:sp>
        <p:nvSpPr>
          <p:cNvPr id="5" name="left-1" title="• Single-machine ETL"/>
          <p:cNvSpPr txBox="1"/>
          <p:nvPr/>
        </p:nvSpPr>
        <p:spPr>
          <a:xfrm>
            <a:off x="365760" y="1371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Single-machine ETL</a:t>
            </a:r>
          </a:p>
        </p:txBody>
      </p:sp>
      <p:sp>
        <p:nvSpPr>
          <p:cNvPr id="6" name="left-2" title="• Prototyping &amp; exploration"/>
          <p:cNvSpPr txBox="1"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Prototyping &amp; exploration</a:t>
            </a:r>
          </a:p>
        </p:txBody>
      </p:sp>
      <p:sp>
        <p:nvSpPr>
          <p:cNvPr id="7" name="left-3" title="• Internal tooling"/>
          <p:cNvSpPr txBox="1"/>
          <p:nvPr/>
        </p:nvSpPr>
        <p:spPr>
          <a:xfrm>
            <a:off x="365760" y="2560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Internal tooling</a:t>
            </a:r>
          </a:p>
        </p:txBody>
      </p:sp>
      <p:sp>
        <p:nvSpPr>
          <p:cNvPr id="8" name="left-4" title="• &lt; 1 M records per run"/>
          <p:cNvSpPr txBox="1"/>
          <p:nvPr/>
        </p:nvSpPr>
        <p:spPr>
          <a:xfrm>
            <a:off x="365760" y="3154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&lt; 1 M records per run</a:t>
            </a:r>
          </a:p>
        </p:txBody>
      </p:sp>
      <p:sp>
        <p:nvSpPr>
          <p:cNvPr id="9" name="right-heading" title="Right column: Use Temporal / Dagster when:"/>
          <p:cNvSpPr txBox="1"/>
          <p:nvPr/>
        </p:nvSpPr>
        <p:spPr>
          <a:xfrm>
            <a:off x="4663440" y="777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6666"/>
                </a:solidFill>
                <a:latin typeface="Open Sans"/>
              </a:rPr>
              <a:t>Use Temporal / Dagster when:</a:t>
            </a:r>
          </a:p>
        </p:txBody>
      </p:sp>
      <p:sp>
        <p:nvSpPr>
          <p:cNvPr id="10" name="right-1" title="• Distributed across workers"/>
          <p:cNvSpPr txBox="1"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Distributed across workers</a:t>
            </a:r>
          </a:p>
        </p:txBody>
      </p:sp>
      <p:sp>
        <p:nvSpPr>
          <p:cNvPr id="11" name="right-2" title="• Jobs run hours or days"/>
          <p:cNvSpPr txBox="1"/>
          <p:nvPr/>
        </p:nvSpPr>
        <p:spPr>
          <a:xfrm>
            <a:off x="466344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Jobs run hours or days</a:t>
            </a:r>
          </a:p>
        </p:txBody>
      </p:sp>
      <p:sp>
        <p:nvSpPr>
          <p:cNvPr id="12" name="right-3" title="• Complex saga patterns"/>
          <p:cNvSpPr txBox="1"/>
          <p:nvPr/>
        </p:nvSpPr>
        <p:spPr>
          <a:xfrm>
            <a:off x="4663440" y="2560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Complex saga patterns</a:t>
            </a:r>
          </a:p>
        </p:txBody>
      </p:sp>
      <p:sp>
        <p:nvSpPr>
          <p:cNvPr id="13" name="right-4" title="• Multi-team coordination"/>
          <p:cNvSpPr txBox="1"/>
          <p:nvPr/>
        </p:nvSpPr>
        <p:spPr>
          <a:xfrm>
            <a:off x="4663440" y="3154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BDAFF"/>
                </a:solidFill>
                <a:latin typeface="Open Sans"/>
              </a:rPr>
              <a:t>• Multi-team coordination</a:t>
            </a:r>
          </a:p>
        </p:txBody>
      </p:sp>
      <p:sp>
        <p:nvSpPr>
          <p:cNvPr id="14" name="slide-num-40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Code slide: Questions?  Try it now."/>
          <p:cNvSpPr txBox="1"/>
          <p:nvPr/>
        </p:nvSpPr>
        <p:spPr>
          <a:xfrm>
            <a:off x="493776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AE5FA"/>
                </a:solidFill>
                <a:latin typeface="Open Sans"/>
              </a:rPr>
              <a:t>Questions?  Try it now.</a:t>
            </a:r>
          </a:p>
        </p:txBody>
      </p:sp>
      <p:sp>
        <p:nvSpPr>
          <p:cNvPr id="3" name="Rectangle 2" title="" descr="">
            <ns0:decorative xmlns:ns0="http://schemas.microsoft.com/office/drawing/2014/main" val="1"/>
          </p:cNvPr>
          <p:cNvSpPr/>
          <p:nvPr/>
        </p:nvSpPr>
        <p:spPr>
          <a:xfrm>
            <a:off x="0" y="777240"/>
            <a:ext cx="9144000" cy="4160520"/>
          </a:xfrm>
          <a:prstGeom prst="rect">
            <a:avLst/>
          </a:prstGeom>
          <a:solidFill>
            <a:srgbClr val="2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-block" title="Code: Questions?  Try it now." descr="Code block — git clone https://github.com/Lanrey/zero-to-pipeline cd zero-to-pipeline/python &amp;&amp; uv sync pipeline source add my-feature-store \     --base-url https://your-api.internal pipeline auth set my-feature-"/>
          <p:cNvSpPr txBox="1"/>
          <p:nvPr/>
        </p:nvSpPr>
        <p:spPr>
          <a:xfrm>
            <a:off x="274320" y="914400"/>
            <a:ext cx="8595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900">
                <a:solidFill>
                  <a:srgbClr val="999999"/>
                </a:solidFill>
                <a:latin typeface="Consolas"/>
              </a:rPr>
              <a:t>git clone https://github.com/Lanrey/zero-to-pipeline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cd zero-to-pipeline/python &amp;&amp; uv sync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pipeline source add my-feature-store \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AAE5FA"/>
                </a:solidFill>
                <a:latin typeface="Consolas"/>
              </a:rPr>
              <a:t>    --base-url https://your-api.internal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pipeline auth set my-feature-store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C6A5FF"/>
                </a:solidFill>
                <a:latin typeface="Consolas"/>
              </a:rPr>
              <a:t>pipeline auth set linear</a:t>
            </a:r>
          </a:p>
          <a:p>
            <a:pPr>
              <a:spcBef>
                <a:spcPts val="100"/>
              </a:spcBef>
            </a:pPr>
            <a:r>
              <a:rPr sz="1900">
                <a:solidFill>
                  <a:srgbClr val="FFFFFF"/>
                </a:solidFill>
                <a:latin typeface="Consolas"/>
              </a:rPr>
              <a:t>uv run python -m examples.demo_pipeline</a:t>
            </a:r>
          </a:p>
        </p:txBody>
      </p:sp>
      <p:sp>
        <p:nvSpPr>
          <p:cNvPr id="5" name="slide-num-41" title="" descr="">
            <ns1:decorative xmlns:ns1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 title="Thank you"/>
          <p:cNvSpPr txBox="1"/>
          <p:nvPr/>
        </p:nvSpPr>
        <p:spPr>
          <a:xfrm>
            <a:off x="493776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AAE5FA"/>
                </a:solidFill>
                <a:latin typeface="Open Sans"/>
              </a:rPr>
              <a:t>Thank you</a:t>
            </a:r>
          </a:p>
        </p:txBody>
      </p:sp>
      <p:sp>
        <p:nvSpPr>
          <p:cNvPr id="3" name="credit" title="Olusola Akinsulere  |  EuroPython 2026 · Kraków, Poland"/>
          <p:cNvSpPr txBox="1"/>
          <p:nvPr/>
        </p:nvSpPr>
        <p:spPr>
          <a:xfrm>
            <a:off x="493776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BDAFF"/>
                </a:solidFill>
                <a:latin typeface="Open Sans"/>
              </a:rPr>
              <a:t>Olusola Akinsulere  |  EuroPython 2026 · Kraków, Poland</a:t>
            </a:r>
          </a:p>
        </p:txBody>
      </p:sp>
      <p:sp>
        <p:nvSpPr>
          <p:cNvPr id="4" name="closing-quote" title="Closing quote: The best pipeline is the one your team actually uses — because it was the easiest one to set up."/>
          <p:cNvSpPr txBox="1"/>
          <p:nvPr/>
        </p:nvSpPr>
        <p:spPr>
          <a:xfrm>
            <a:off x="493776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6A5FF"/>
                </a:solidFill>
                <a:latin typeface="Open Sans"/>
              </a:rPr>
              <a:t>“The best pipeline is the one your team actually uses
— because it was the easiest one to set up.”</a:t>
            </a:r>
          </a:p>
        </p:txBody>
      </p:sp>
      <p:sp>
        <p:nvSpPr>
          <p:cNvPr id="5" name="website" title="Website: olusola.xyz"/>
          <p:cNvSpPr txBox="1"/>
          <p:nvPr/>
        </p:nvSpPr>
        <p:spPr>
          <a:xfrm>
            <a:off x="493776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99999"/>
                </a:solidFill>
                <a:latin typeface="Open Sans"/>
              </a:rPr>
              <a:t>olusola.xyz</a:t>
            </a:r>
          </a:p>
        </p:txBody>
      </p:sp>
      <p:sp>
        <p:nvSpPr>
          <p:cNvPr id="6" name="slide-num-42" title="" descr="">
            <ns0:decorative xmlns:ns0="http://schemas.microsoft.com/office/drawing/2014/main" val="1"/>
          </p:cNvPr>
          <p:cNvSpPr txBox="1"/>
          <p:nvPr/>
        </p:nvSpPr>
        <p:spPr>
          <a:xfrm>
            <a:off x="8321040" y="48006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Open Sans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